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Lst>
  <p:sldSz cy="5143500" cx="9144000"/>
  <p:notesSz cx="6858000" cy="9144000"/>
  <p:embeddedFontLst>
    <p:embeddedFont>
      <p:font typeface="Palanquin Dark"/>
      <p:regular r:id="rId46"/>
      <p:bold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48" roundtripDataSignature="AMtx7mjbe6NkUkuZNj791tHvxYOHFRU8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schemas.openxmlformats.org/officeDocument/2006/relationships/slide" Target="slides/slide38.xml"/><Relationship Id="rId41" Type="http://schemas.openxmlformats.org/officeDocument/2006/relationships/slide" Target="slides/slide37.xml"/><Relationship Id="rId22" Type="http://schemas.openxmlformats.org/officeDocument/2006/relationships/slide" Target="slides/slide18.xml"/><Relationship Id="rId44" Type="http://schemas.openxmlformats.org/officeDocument/2006/relationships/slide" Target="slides/slide40.xml"/><Relationship Id="rId21" Type="http://schemas.openxmlformats.org/officeDocument/2006/relationships/slide" Target="slides/slide17.xml"/><Relationship Id="rId43" Type="http://schemas.openxmlformats.org/officeDocument/2006/relationships/slide" Target="slides/slide39.xml"/><Relationship Id="rId24" Type="http://schemas.openxmlformats.org/officeDocument/2006/relationships/slide" Target="slides/slide20.xml"/><Relationship Id="rId46" Type="http://schemas.openxmlformats.org/officeDocument/2006/relationships/font" Target="fonts/PalanquinDark-regular.fntdata"/><Relationship Id="rId23" Type="http://schemas.openxmlformats.org/officeDocument/2006/relationships/slide" Target="slides/slide19.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48" Type="http://customschemas.google.com/relationships/presentationmetadata" Target="metadata"/><Relationship Id="rId25" Type="http://schemas.openxmlformats.org/officeDocument/2006/relationships/slide" Target="slides/slide21.xml"/><Relationship Id="rId47" Type="http://schemas.openxmlformats.org/officeDocument/2006/relationships/font" Target="fonts/PalanquinDark-bold.fntdata"/><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ourceware.org/gdb/onlinedocs/gdb/Set-Breaks.html"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ourceware.org/gdb/onlinedocs/gdb/Set-Breaks.html"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ourceware.org/gdb/onlinedocs/gdb/Set-Breaks.html" TargetMode="External"/><Relationship Id="rId3" Type="http://schemas.openxmlformats.org/officeDocument/2006/relationships/hyperlink" Target="https://sourceware.org/gdb/current/onlinedocs/gdb/Address-Locations.html#Address-Locations"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ourceware.org/gdb/onlinedocs/gdb/Set-Breaks.html"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ourceware.org/gdb/onlinedocs/gdb/Set-Breaks.html"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ix.stackexchange.com/questions/297982/how-to-step-into-step-over-and-step-out-with-gdb"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 name="Google Shape;6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From Wikipedia, "GNU's design is Unix-like but differs from Unix by being free software"</a:t>
            </a:r>
            <a:endParaRPr/>
          </a:p>
          <a:p>
            <a:pPr indent="0" lvl="0" marL="0" rtl="0" algn="l">
              <a:lnSpc>
                <a:spcPct val="100000"/>
              </a:lnSpc>
              <a:spcBef>
                <a:spcPts val="0"/>
              </a:spcBef>
              <a:spcAft>
                <a:spcPts val="0"/>
              </a:spcAft>
              <a:buSzPts val="1100"/>
              <a:buNone/>
            </a:pPr>
            <a:r>
              <a:rPr lang="en"/>
              <a:t>It's a recursive acronym o my</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If you've read any gdb documentation, you would find that gdb is a lot. There are also many ways to do the same thing, so feel free to use whatever commands you're comfortable with. If you ever find yourself wanting to do something on gdb, just search up something like "view registers gdb." But the point of this workshop is to break down what I personally found most useful for the bomb lab.</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u="sng">
                <a:solidFill>
                  <a:schemeClr val="hlink"/>
                </a:solidFill>
                <a:hlinkClick r:id="rId2"/>
              </a:rPr>
              <a:t>https://sourceware.org/gdb/onlinedocs/gdb/Set-Breaks.html</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u="sng">
                <a:solidFill>
                  <a:schemeClr val="hlink"/>
                </a:solidFill>
                <a:hlinkClick r:id="rId2"/>
              </a:rPr>
              <a:t>https://sourceware.org/gdb/onlinedocs/gdb/Set-Breaks.html</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u="sng">
                <a:solidFill>
                  <a:schemeClr val="hlink"/>
                </a:solidFill>
                <a:hlinkClick r:id="rId2"/>
              </a:rPr>
              <a:t>https://sourceware.org/gdb/onlinedocs/gdb/Set-Breaks.html</a:t>
            </a:r>
            <a:endParaRPr/>
          </a:p>
          <a:p>
            <a:pPr indent="0" lvl="0" marL="0" rtl="0" algn="l">
              <a:lnSpc>
                <a:spcPct val="100000"/>
              </a:lnSpc>
              <a:spcBef>
                <a:spcPts val="0"/>
              </a:spcBef>
              <a:spcAft>
                <a:spcPts val="0"/>
              </a:spcAft>
              <a:buSzPts val="1100"/>
              <a:buNone/>
            </a:pPr>
            <a:r>
              <a:rPr lang="en" u="sng">
                <a:solidFill>
                  <a:schemeClr val="hlink"/>
                </a:solidFill>
                <a:hlinkClick r:id="rId3"/>
              </a:rPr>
              <a:t>https://sourceware.org/gdb/current/onlinedocs/gdb/Address-Locations.html#Address-Locations</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u="sng">
                <a:solidFill>
                  <a:schemeClr val="hlink"/>
                </a:solidFill>
                <a:hlinkClick r:id="rId2"/>
              </a:rPr>
              <a:t>https://sourceware.org/gdb/onlinedocs/gdb/Set-Breaks.html</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u="sng">
                <a:solidFill>
                  <a:schemeClr val="hlink"/>
                </a:solidFill>
                <a:hlinkClick r:id="rId2"/>
              </a:rPr>
              <a:t>https://sourceware.org/gdb/onlinedocs/gdb/Set-Breaks.html</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 name="Google Shape;224;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 name="Google Shape;232;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 name="Google Shape;247;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5" name="Google Shape;255;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u="sng">
                <a:solidFill>
                  <a:schemeClr val="hlink"/>
                </a:solidFill>
                <a:hlinkClick r:id="rId2"/>
              </a:rPr>
              <a:t>https://unix.stackexchange.com/questions/297982/how-to-step-into-step-over-and-step-out-with-gdb</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 name="Google Shape;263;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9" name="Google Shape;279;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6" name="Google Shape;296;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3" name="Google Shape;303;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4" name="Google Shape;314;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0" name="Google Shape;320;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3" name="Google Shape;333;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0" name="Google Shape;340;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8" name="Google Shape;348;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6" name="Google Shape;356;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6" name="Google Shape;366;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If you've read any gdb documentation, you would find that gdb is a lot. There are also many ways to do the same thing, so feel free to use whatever commands you're comfortable with. If you ever find yourself wanting to do something on gdb, just search up something like "view registers gdb." But the point of this workshop is to break down what I personally found most useful for the bomb lab.</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4" name="Google Shape;374;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4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Font typeface="Palanquin Dark"/>
              <a:buNone/>
              <a:defRPr sz="5200">
                <a:latin typeface="Palanquin Dark"/>
                <a:ea typeface="Palanquin Dark"/>
                <a:cs typeface="Palanquin Dark"/>
                <a:sym typeface="Palanquin Dark"/>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4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Font typeface="Palanquin Dark"/>
              <a:buNone/>
              <a:defRPr sz="2800">
                <a:latin typeface="Palanquin Dark"/>
                <a:ea typeface="Palanquin Dark"/>
                <a:cs typeface="Palanquin Dark"/>
                <a:sym typeface="Palanquin Dark"/>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4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4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9" name="Google Shape;19;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4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4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3" name="Google Shape;23;p4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4" name="Google Shape;24;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4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4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4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1" name="Google Shape;31;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4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5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5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5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5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0" name="Google Shape;40;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5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3" name="Google Shape;43;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5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5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7" name="Google Shape;47;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Palanquin Dark"/>
              <a:buNone/>
              <a:defRPr b="0" i="0" sz="2800" u="none" cap="none" strike="noStrike">
                <a:solidFill>
                  <a:schemeClr val="dk1"/>
                </a:solidFill>
                <a:latin typeface="Palanquin Dark"/>
                <a:ea typeface="Palanquin Dark"/>
                <a:cs typeface="Palanquin Dark"/>
                <a:sym typeface="Palanquin Dark"/>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Palanquin Dark"/>
              <a:buChar char="●"/>
              <a:defRPr b="0" i="0" sz="1800" u="none" cap="none" strike="noStrike">
                <a:solidFill>
                  <a:schemeClr val="dk2"/>
                </a:solidFill>
                <a:latin typeface="Palanquin Dark"/>
                <a:ea typeface="Palanquin Dark"/>
                <a:cs typeface="Palanquin Dark"/>
                <a:sym typeface="Palanquin Dark"/>
              </a:defRPr>
            </a:lvl1pPr>
            <a:lvl2pPr indent="-317500" lvl="1" marL="914400" marR="0" rtl="0" algn="l">
              <a:lnSpc>
                <a:spcPct val="115000"/>
              </a:lnSpc>
              <a:spcBef>
                <a:spcPts val="1600"/>
              </a:spcBef>
              <a:spcAft>
                <a:spcPts val="0"/>
              </a:spcAft>
              <a:buClr>
                <a:schemeClr val="dk2"/>
              </a:buClr>
              <a:buSzPts val="1400"/>
              <a:buFont typeface="Palanquin Dark"/>
              <a:buChar char="○"/>
              <a:defRPr b="0" i="0" sz="1400" u="none" cap="none" strike="noStrike">
                <a:solidFill>
                  <a:schemeClr val="dk2"/>
                </a:solidFill>
                <a:latin typeface="Palanquin Dark"/>
                <a:ea typeface="Palanquin Dark"/>
                <a:cs typeface="Palanquin Dark"/>
                <a:sym typeface="Palanquin Dark"/>
              </a:defRPr>
            </a:lvl2pPr>
            <a:lvl3pPr indent="-317500" lvl="2" marL="1371600" marR="0" rtl="0" algn="l">
              <a:lnSpc>
                <a:spcPct val="115000"/>
              </a:lnSpc>
              <a:spcBef>
                <a:spcPts val="1600"/>
              </a:spcBef>
              <a:spcAft>
                <a:spcPts val="0"/>
              </a:spcAft>
              <a:buClr>
                <a:schemeClr val="dk2"/>
              </a:buClr>
              <a:buSzPts val="1400"/>
              <a:buFont typeface="Palanquin Dark"/>
              <a:buChar char="■"/>
              <a:defRPr b="0" i="0" sz="1400" u="none" cap="none" strike="noStrike">
                <a:solidFill>
                  <a:schemeClr val="dk2"/>
                </a:solidFill>
                <a:latin typeface="Palanquin Dark"/>
                <a:ea typeface="Palanquin Dark"/>
                <a:cs typeface="Palanquin Dark"/>
                <a:sym typeface="Palanquin Dark"/>
              </a:defRPr>
            </a:lvl3pPr>
            <a:lvl4pPr indent="-317500" lvl="3" marL="1828800" marR="0" rtl="0" algn="l">
              <a:lnSpc>
                <a:spcPct val="115000"/>
              </a:lnSpc>
              <a:spcBef>
                <a:spcPts val="1600"/>
              </a:spcBef>
              <a:spcAft>
                <a:spcPts val="0"/>
              </a:spcAft>
              <a:buClr>
                <a:schemeClr val="dk2"/>
              </a:buClr>
              <a:buSzPts val="1400"/>
              <a:buFont typeface="Palanquin Dark"/>
              <a:buChar char="●"/>
              <a:defRPr b="0" i="0" sz="1400" u="none" cap="none" strike="noStrike">
                <a:solidFill>
                  <a:schemeClr val="dk2"/>
                </a:solidFill>
                <a:latin typeface="Palanquin Dark"/>
                <a:ea typeface="Palanquin Dark"/>
                <a:cs typeface="Palanquin Dark"/>
                <a:sym typeface="Palanquin Dark"/>
              </a:defRPr>
            </a:lvl4pPr>
            <a:lvl5pPr indent="-317500" lvl="4" marL="2286000" marR="0" rtl="0" algn="l">
              <a:lnSpc>
                <a:spcPct val="115000"/>
              </a:lnSpc>
              <a:spcBef>
                <a:spcPts val="1600"/>
              </a:spcBef>
              <a:spcAft>
                <a:spcPts val="0"/>
              </a:spcAft>
              <a:buClr>
                <a:schemeClr val="dk2"/>
              </a:buClr>
              <a:buSzPts val="1400"/>
              <a:buFont typeface="Palanquin Dark"/>
              <a:buChar char="○"/>
              <a:defRPr b="0" i="0" sz="1400" u="none" cap="none" strike="noStrike">
                <a:solidFill>
                  <a:schemeClr val="dk2"/>
                </a:solidFill>
                <a:latin typeface="Palanquin Dark"/>
                <a:ea typeface="Palanquin Dark"/>
                <a:cs typeface="Palanquin Dark"/>
                <a:sym typeface="Palanquin Dark"/>
              </a:defRPr>
            </a:lvl5pPr>
            <a:lvl6pPr indent="-317500" lvl="5" marL="2743200" marR="0" rtl="0" algn="l">
              <a:lnSpc>
                <a:spcPct val="115000"/>
              </a:lnSpc>
              <a:spcBef>
                <a:spcPts val="1600"/>
              </a:spcBef>
              <a:spcAft>
                <a:spcPts val="0"/>
              </a:spcAft>
              <a:buClr>
                <a:schemeClr val="dk2"/>
              </a:buClr>
              <a:buSzPts val="1400"/>
              <a:buFont typeface="Palanquin Dark"/>
              <a:buChar char="■"/>
              <a:defRPr b="0" i="0" sz="1400" u="none" cap="none" strike="noStrike">
                <a:solidFill>
                  <a:schemeClr val="dk2"/>
                </a:solidFill>
                <a:latin typeface="Palanquin Dark"/>
                <a:ea typeface="Palanquin Dark"/>
                <a:cs typeface="Palanquin Dark"/>
                <a:sym typeface="Palanquin Dark"/>
              </a:defRPr>
            </a:lvl6pPr>
            <a:lvl7pPr indent="-317500" lvl="6" marL="3200400" marR="0" rtl="0" algn="l">
              <a:lnSpc>
                <a:spcPct val="115000"/>
              </a:lnSpc>
              <a:spcBef>
                <a:spcPts val="1600"/>
              </a:spcBef>
              <a:spcAft>
                <a:spcPts val="0"/>
              </a:spcAft>
              <a:buClr>
                <a:schemeClr val="dk2"/>
              </a:buClr>
              <a:buSzPts val="1400"/>
              <a:buFont typeface="Palanquin Dark"/>
              <a:buChar char="●"/>
              <a:defRPr b="0" i="0" sz="1400" u="none" cap="none" strike="noStrike">
                <a:solidFill>
                  <a:schemeClr val="dk2"/>
                </a:solidFill>
                <a:latin typeface="Palanquin Dark"/>
                <a:ea typeface="Palanquin Dark"/>
                <a:cs typeface="Palanquin Dark"/>
                <a:sym typeface="Palanquin Dark"/>
              </a:defRPr>
            </a:lvl7pPr>
            <a:lvl8pPr indent="-317500" lvl="7" marL="3657600" marR="0" rtl="0" algn="l">
              <a:lnSpc>
                <a:spcPct val="115000"/>
              </a:lnSpc>
              <a:spcBef>
                <a:spcPts val="1600"/>
              </a:spcBef>
              <a:spcAft>
                <a:spcPts val="0"/>
              </a:spcAft>
              <a:buClr>
                <a:schemeClr val="dk2"/>
              </a:buClr>
              <a:buSzPts val="1400"/>
              <a:buFont typeface="Palanquin Dark"/>
              <a:buChar char="○"/>
              <a:defRPr b="0" i="0" sz="1400" u="none" cap="none" strike="noStrike">
                <a:solidFill>
                  <a:schemeClr val="dk2"/>
                </a:solidFill>
                <a:latin typeface="Palanquin Dark"/>
                <a:ea typeface="Palanquin Dark"/>
                <a:cs typeface="Palanquin Dark"/>
                <a:sym typeface="Palanquin Dark"/>
              </a:defRPr>
            </a:lvl8pPr>
            <a:lvl9pPr indent="-317500" lvl="8" marL="4114800" marR="0" rtl="0" algn="l">
              <a:lnSpc>
                <a:spcPct val="115000"/>
              </a:lnSpc>
              <a:spcBef>
                <a:spcPts val="1600"/>
              </a:spcBef>
              <a:spcAft>
                <a:spcPts val="1600"/>
              </a:spcAft>
              <a:buClr>
                <a:schemeClr val="dk2"/>
              </a:buClr>
              <a:buSzPts val="1400"/>
              <a:buFont typeface="Palanquin Dark"/>
              <a:buChar char="■"/>
              <a:defRPr b="0" i="0" sz="1400" u="none" cap="none" strike="noStrike">
                <a:solidFill>
                  <a:schemeClr val="dk2"/>
                </a:solidFill>
                <a:latin typeface="Palanquin Dark"/>
                <a:ea typeface="Palanquin Dark"/>
                <a:cs typeface="Palanquin Dark"/>
                <a:sym typeface="Palanquin Dark"/>
              </a:defRPr>
            </a:lvl9pPr>
          </a:lstStyle>
          <a:p/>
        </p:txBody>
      </p:sp>
      <p:sp>
        <p:nvSpPr>
          <p:cNvPr id="8" name="Google Shape;8;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tinyurl.com/avengers33"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stackoverflow.com/q/4758175"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ftp.gnu.org/old-gnu/Manuals/gdb/html_node/gdb_28.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sourceware.org/gdb/current/onlinedocs/gdb/Machine-Code.html" TargetMode="External"/><Relationship Id="rId4" Type="http://schemas.openxmlformats.org/officeDocument/2006/relationships/hyperlink" Target="https://visualgdb.com/gdbreference/commands/disassemble"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hyperlink" Target="https://ftp.gnu.org/old-gnu/Manuals/gdb/html_node/gdb_54.html" TargetMode="External"/><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1.png"/><Relationship Id="rId4" Type="http://schemas.openxmlformats.org/officeDocument/2006/relationships/image" Target="../media/image1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hyperlink" Target="https://ftp.gnu.org/old-gnu/Manuals/gdb/html_node/gdb_49.html" TargetMode="External"/><Relationship Id="rId4" Type="http://schemas.openxmlformats.org/officeDocument/2006/relationships/hyperlink" Target="https://ftp.gnu.org/old-gnu/Manuals/gdb/html_node/gdb_56.html" TargetMode="External"/><Relationship Id="rId5" Type="http://schemas.openxmlformats.org/officeDocument/2006/relationships/hyperlink" Target="https://ftp.gnu.org/old-gnu/Manuals/gdb/html_node/gdb_42.html" TargetMode="External"/><Relationship Id="rId6" Type="http://schemas.openxmlformats.org/officeDocument/2006/relationships/hyperlink" Target="https://stackoverflow.com/questions/5429137/how-to-print-register-values-in-gdb" TargetMode="External"/><Relationship Id="rId7" Type="http://schemas.openxmlformats.org/officeDocument/2006/relationships/hyperlink" Target="http://csapp.cs.cmu.edu/2e/docs/gdbnotes-x86-64.pdf"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hyperlink" Target="https://docs.google.com/presentation/d/1mUR75UbBu6btTzC04bI8zY0FE9almjGUcFVZq3fwOLw"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754650" y="445100"/>
            <a:ext cx="7634700" cy="1409100"/>
          </a:xfrm>
          <a:prstGeom prst="rect">
            <a:avLst/>
          </a:prstGeom>
          <a:noFill/>
          <a:ln>
            <a:noFill/>
          </a:ln>
        </p:spPr>
        <p:txBody>
          <a:bodyPr anchorCtr="0" anchor="b" bIns="91425" lIns="91425" spcFirstLastPara="1" rIns="91425" wrap="square" tIns="91425">
            <a:noAutofit/>
          </a:bodyPr>
          <a:lstStyle/>
          <a:p>
            <a:pPr indent="0" lvl="0" marL="457200" rtl="0" algn="ctr">
              <a:lnSpc>
                <a:spcPct val="100000"/>
              </a:lnSpc>
              <a:spcBef>
                <a:spcPts val="0"/>
              </a:spcBef>
              <a:spcAft>
                <a:spcPts val="0"/>
              </a:spcAft>
              <a:buSzPts val="5200"/>
              <a:buNone/>
            </a:pPr>
            <a:r>
              <a:rPr lang="en" sz="9600"/>
              <a:t>GDB</a:t>
            </a:r>
            <a:endParaRPr sz="9600"/>
          </a:p>
        </p:txBody>
      </p:sp>
      <p:pic>
        <p:nvPicPr>
          <p:cNvPr id="55" name="Google Shape;55;p1"/>
          <p:cNvPicPr preferRelativeResize="0"/>
          <p:nvPr/>
        </p:nvPicPr>
        <p:blipFill rotWithShape="1">
          <a:blip r:embed="rId3">
            <a:alphaModFix/>
          </a:blip>
          <a:srcRect b="0" l="0" r="0" t="0"/>
          <a:stretch/>
        </p:blipFill>
        <p:spPr>
          <a:xfrm>
            <a:off x="532900" y="2178375"/>
            <a:ext cx="1581575" cy="924425"/>
          </a:xfrm>
          <a:prstGeom prst="rect">
            <a:avLst/>
          </a:prstGeom>
          <a:noFill/>
          <a:ln>
            <a:noFill/>
          </a:ln>
        </p:spPr>
      </p:pic>
      <p:pic>
        <p:nvPicPr>
          <p:cNvPr id="56" name="Google Shape;56;p1"/>
          <p:cNvPicPr preferRelativeResize="0"/>
          <p:nvPr/>
        </p:nvPicPr>
        <p:blipFill rotWithShape="1">
          <a:blip r:embed="rId3">
            <a:alphaModFix/>
          </a:blip>
          <a:srcRect b="0" l="0" r="0" t="0"/>
          <a:stretch/>
        </p:blipFill>
        <p:spPr>
          <a:xfrm flipH="1">
            <a:off x="6491100" y="3488925"/>
            <a:ext cx="2011050" cy="1175450"/>
          </a:xfrm>
          <a:prstGeom prst="rect">
            <a:avLst/>
          </a:prstGeom>
          <a:noFill/>
          <a:ln>
            <a:noFill/>
          </a:ln>
        </p:spPr>
      </p:pic>
      <p:pic>
        <p:nvPicPr>
          <p:cNvPr id="57" name="Google Shape;57;p1"/>
          <p:cNvPicPr preferRelativeResize="0"/>
          <p:nvPr/>
        </p:nvPicPr>
        <p:blipFill rotWithShape="1">
          <a:blip r:embed="rId3">
            <a:alphaModFix/>
          </a:blip>
          <a:srcRect b="0" l="0" r="0" t="0"/>
          <a:stretch/>
        </p:blipFill>
        <p:spPr>
          <a:xfrm flipH="1">
            <a:off x="1494450" y="3898725"/>
            <a:ext cx="1309950" cy="765650"/>
          </a:xfrm>
          <a:prstGeom prst="rect">
            <a:avLst/>
          </a:prstGeom>
          <a:noFill/>
          <a:ln>
            <a:noFill/>
          </a:ln>
        </p:spPr>
      </p:pic>
      <p:pic>
        <p:nvPicPr>
          <p:cNvPr id="58" name="Google Shape;58;p1"/>
          <p:cNvPicPr preferRelativeResize="0"/>
          <p:nvPr/>
        </p:nvPicPr>
        <p:blipFill rotWithShape="1">
          <a:blip r:embed="rId3">
            <a:alphaModFix/>
          </a:blip>
          <a:srcRect b="0" l="0" r="0" t="0"/>
          <a:stretch/>
        </p:blipFill>
        <p:spPr>
          <a:xfrm flipH="1">
            <a:off x="6344950" y="2178375"/>
            <a:ext cx="1018100" cy="595075"/>
          </a:xfrm>
          <a:prstGeom prst="rect">
            <a:avLst/>
          </a:prstGeom>
          <a:noFill/>
          <a:ln>
            <a:noFill/>
          </a:ln>
        </p:spPr>
      </p:pic>
      <p:pic>
        <p:nvPicPr>
          <p:cNvPr id="59" name="Google Shape;59;p1"/>
          <p:cNvPicPr preferRelativeResize="0"/>
          <p:nvPr/>
        </p:nvPicPr>
        <p:blipFill rotWithShape="1">
          <a:blip r:embed="rId3">
            <a:alphaModFix/>
          </a:blip>
          <a:srcRect b="0" l="0" r="0" t="0"/>
          <a:stretch/>
        </p:blipFill>
        <p:spPr>
          <a:xfrm>
            <a:off x="3224188" y="2209345"/>
            <a:ext cx="2011050" cy="117545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id="64" name="Google Shape;64;p2"/>
          <p:cNvPicPr preferRelativeResize="0"/>
          <p:nvPr/>
        </p:nvPicPr>
        <p:blipFill rotWithShape="1">
          <a:blip r:embed="rId3">
            <a:alphaModFix/>
          </a:blip>
          <a:srcRect b="0" l="0" r="0" t="0"/>
          <a:stretch/>
        </p:blipFill>
        <p:spPr>
          <a:xfrm flipH="1" rot="10800000">
            <a:off x="532900" y="2178375"/>
            <a:ext cx="1581575" cy="924425"/>
          </a:xfrm>
          <a:prstGeom prst="rect">
            <a:avLst/>
          </a:prstGeom>
          <a:noFill/>
          <a:ln>
            <a:noFill/>
          </a:ln>
        </p:spPr>
      </p:pic>
      <p:pic>
        <p:nvPicPr>
          <p:cNvPr id="65" name="Google Shape;65;p2"/>
          <p:cNvPicPr preferRelativeResize="0"/>
          <p:nvPr/>
        </p:nvPicPr>
        <p:blipFill rotWithShape="1">
          <a:blip r:embed="rId3">
            <a:alphaModFix/>
          </a:blip>
          <a:srcRect b="0" l="0" r="0" t="0"/>
          <a:stretch/>
        </p:blipFill>
        <p:spPr>
          <a:xfrm rot="10800000">
            <a:off x="6491100" y="3488925"/>
            <a:ext cx="2011050" cy="1175450"/>
          </a:xfrm>
          <a:prstGeom prst="rect">
            <a:avLst/>
          </a:prstGeom>
          <a:noFill/>
          <a:ln>
            <a:noFill/>
          </a:ln>
        </p:spPr>
      </p:pic>
      <p:pic>
        <p:nvPicPr>
          <p:cNvPr id="66" name="Google Shape;66;p2"/>
          <p:cNvPicPr preferRelativeResize="0"/>
          <p:nvPr/>
        </p:nvPicPr>
        <p:blipFill rotWithShape="1">
          <a:blip r:embed="rId3">
            <a:alphaModFix/>
          </a:blip>
          <a:srcRect b="0" l="0" r="0" t="0"/>
          <a:stretch/>
        </p:blipFill>
        <p:spPr>
          <a:xfrm rot="10800000">
            <a:off x="1494450" y="3898725"/>
            <a:ext cx="1309950" cy="765650"/>
          </a:xfrm>
          <a:prstGeom prst="rect">
            <a:avLst/>
          </a:prstGeom>
          <a:noFill/>
          <a:ln>
            <a:noFill/>
          </a:ln>
        </p:spPr>
      </p:pic>
      <p:pic>
        <p:nvPicPr>
          <p:cNvPr id="67" name="Google Shape;67;p2"/>
          <p:cNvPicPr preferRelativeResize="0"/>
          <p:nvPr/>
        </p:nvPicPr>
        <p:blipFill rotWithShape="1">
          <a:blip r:embed="rId3">
            <a:alphaModFix/>
          </a:blip>
          <a:srcRect b="0" l="0" r="0" t="0"/>
          <a:stretch/>
        </p:blipFill>
        <p:spPr>
          <a:xfrm rot="10800000">
            <a:off x="6344950" y="2178375"/>
            <a:ext cx="1018100" cy="595075"/>
          </a:xfrm>
          <a:prstGeom prst="rect">
            <a:avLst/>
          </a:prstGeom>
          <a:noFill/>
          <a:ln>
            <a:noFill/>
          </a:ln>
        </p:spPr>
      </p:pic>
      <p:pic>
        <p:nvPicPr>
          <p:cNvPr id="68" name="Google Shape;68;p2"/>
          <p:cNvPicPr preferRelativeResize="0"/>
          <p:nvPr/>
        </p:nvPicPr>
        <p:blipFill rotWithShape="1">
          <a:blip r:embed="rId3">
            <a:alphaModFix/>
          </a:blip>
          <a:srcRect b="0" l="0" r="0" t="0"/>
          <a:stretch/>
        </p:blipFill>
        <p:spPr>
          <a:xfrm flipH="1" rot="10800000">
            <a:off x="3224188" y="2209345"/>
            <a:ext cx="2011050" cy="1175452"/>
          </a:xfrm>
          <a:prstGeom prst="rect">
            <a:avLst/>
          </a:prstGeom>
          <a:noFill/>
          <a:ln>
            <a:noFill/>
          </a:ln>
        </p:spPr>
      </p:pic>
      <p:sp>
        <p:nvSpPr>
          <p:cNvPr id="69" name="Google Shape;69;p2"/>
          <p:cNvSpPr txBox="1"/>
          <p:nvPr>
            <p:ph type="ctrTitle"/>
          </p:nvPr>
        </p:nvSpPr>
        <p:spPr>
          <a:xfrm>
            <a:off x="754650" y="1036325"/>
            <a:ext cx="7634700" cy="924300"/>
          </a:xfrm>
          <a:prstGeom prst="rect">
            <a:avLst/>
          </a:prstGeom>
          <a:noFill/>
          <a:ln>
            <a:noFill/>
          </a:ln>
        </p:spPr>
        <p:txBody>
          <a:bodyPr anchorCtr="0" anchor="b" bIns="91425" lIns="91425" spcFirstLastPara="1" rIns="91425" wrap="square" tIns="91425">
            <a:noAutofit/>
          </a:bodyPr>
          <a:lstStyle/>
          <a:p>
            <a:pPr indent="0" lvl="0" marL="457200" rtl="0" algn="ctr">
              <a:lnSpc>
                <a:spcPct val="100000"/>
              </a:lnSpc>
              <a:spcBef>
                <a:spcPts val="0"/>
              </a:spcBef>
              <a:spcAft>
                <a:spcPts val="0"/>
              </a:spcAft>
              <a:buSzPts val="5200"/>
              <a:buNone/>
            </a:pPr>
            <a:r>
              <a:rPr lang="en" sz="3000"/>
              <a:t>Workshop by</a:t>
            </a:r>
            <a:endParaRPr sz="3000"/>
          </a:p>
          <a:p>
            <a:pPr indent="0" lvl="0" marL="457200" rtl="0" algn="ctr">
              <a:lnSpc>
                <a:spcPct val="100000"/>
              </a:lnSpc>
              <a:spcBef>
                <a:spcPts val="0"/>
              </a:spcBef>
              <a:spcAft>
                <a:spcPts val="0"/>
              </a:spcAft>
              <a:buClr>
                <a:schemeClr val="dk1"/>
              </a:buClr>
              <a:buSzPts val="1100"/>
              <a:buFont typeface="Arial"/>
              <a:buNone/>
            </a:pPr>
            <a:r>
              <a:rPr lang="en" sz="3000"/>
              <a:t>Liah Kim, Melody Yu, and Aryan Singh</a:t>
            </a:r>
            <a:endParaRPr sz="3000"/>
          </a:p>
          <a:p>
            <a:pPr indent="0" lvl="0" marL="457200" rtl="0" algn="ctr">
              <a:lnSpc>
                <a:spcPct val="100000"/>
              </a:lnSpc>
              <a:spcBef>
                <a:spcPts val="0"/>
              </a:spcBef>
              <a:spcAft>
                <a:spcPts val="0"/>
              </a:spcAft>
              <a:buSzPts val="5200"/>
              <a:buNone/>
            </a:pPr>
            <a:r>
              <a:t/>
            </a:r>
            <a:endParaRPr sz="1800"/>
          </a:p>
          <a:p>
            <a:pPr indent="0" lvl="0" marL="457200" rtl="0" algn="ctr">
              <a:lnSpc>
                <a:spcPct val="100000"/>
              </a:lnSpc>
              <a:spcBef>
                <a:spcPts val="0"/>
              </a:spcBef>
              <a:spcAft>
                <a:spcPts val="0"/>
              </a:spcAft>
              <a:buSzPts val="5200"/>
              <a:buNone/>
            </a:pPr>
            <a:r>
              <a:rPr lang="en" sz="1800"/>
              <a:t>Slides originally by:</a:t>
            </a:r>
            <a:endParaRPr sz="1800"/>
          </a:p>
          <a:p>
            <a:pPr indent="0" lvl="0" marL="457200" rtl="0" algn="ctr">
              <a:lnSpc>
                <a:spcPct val="100000"/>
              </a:lnSpc>
              <a:spcBef>
                <a:spcPts val="0"/>
              </a:spcBef>
              <a:spcAft>
                <a:spcPts val="0"/>
              </a:spcAft>
              <a:buSzPts val="5200"/>
              <a:buNone/>
            </a:pPr>
            <a:r>
              <a:rPr lang="en" sz="1800"/>
              <a:t>Kristie Lim and Jonathan Myong</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3"/>
          <p:cNvSpPr txBox="1"/>
          <p:nvPr>
            <p:ph type="ctrTitle"/>
          </p:nvPr>
        </p:nvSpPr>
        <p:spPr>
          <a:xfrm>
            <a:off x="2581950" y="524400"/>
            <a:ext cx="3980100" cy="970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4800"/>
              <a:t>What is GDB?</a:t>
            </a:r>
            <a:endParaRPr sz="4800"/>
          </a:p>
        </p:txBody>
      </p:sp>
      <p:sp>
        <p:nvSpPr>
          <p:cNvPr id="75" name="Google Shape;75;p3"/>
          <p:cNvSpPr txBox="1"/>
          <p:nvPr>
            <p:ph type="ctrTitle"/>
          </p:nvPr>
        </p:nvSpPr>
        <p:spPr>
          <a:xfrm>
            <a:off x="731700" y="3068600"/>
            <a:ext cx="7680600" cy="7740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t/>
            </a:r>
            <a:endParaRPr/>
          </a:p>
          <a:p>
            <a:pPr indent="0" lvl="0" marL="0" rtl="0" algn="ctr">
              <a:lnSpc>
                <a:spcPct val="100000"/>
              </a:lnSpc>
              <a:spcBef>
                <a:spcPts val="0"/>
              </a:spcBef>
              <a:spcAft>
                <a:spcPts val="0"/>
              </a:spcAft>
              <a:buSzPts val="5200"/>
              <a:buNone/>
            </a:pPr>
            <a:r>
              <a:t/>
            </a:r>
            <a:endParaRPr sz="3600"/>
          </a:p>
        </p:txBody>
      </p:sp>
      <p:sp>
        <p:nvSpPr>
          <p:cNvPr id="76" name="Google Shape;76;p3"/>
          <p:cNvSpPr txBox="1"/>
          <p:nvPr>
            <p:ph type="ctrTitle"/>
          </p:nvPr>
        </p:nvSpPr>
        <p:spPr>
          <a:xfrm>
            <a:off x="731700" y="1711625"/>
            <a:ext cx="7680600" cy="7740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t/>
            </a:r>
            <a:endParaRPr/>
          </a:p>
          <a:p>
            <a:pPr indent="0" lvl="0" marL="0" rtl="0" algn="ctr">
              <a:lnSpc>
                <a:spcPct val="100000"/>
              </a:lnSpc>
              <a:spcBef>
                <a:spcPts val="0"/>
              </a:spcBef>
              <a:spcAft>
                <a:spcPts val="0"/>
              </a:spcAft>
              <a:buSzPts val="5200"/>
              <a:buNone/>
            </a:pPr>
            <a:r>
              <a:rPr b="1" lang="en" sz="6000"/>
              <a:t>G</a:t>
            </a:r>
            <a:r>
              <a:rPr lang="en" sz="6000"/>
              <a:t>NU </a:t>
            </a:r>
            <a:r>
              <a:rPr b="1" lang="en" sz="6000"/>
              <a:t>D</a:t>
            </a:r>
            <a:r>
              <a:rPr lang="en" sz="6000"/>
              <a:t>e</a:t>
            </a:r>
            <a:r>
              <a:rPr b="1" lang="en" sz="6000"/>
              <a:t>B</a:t>
            </a:r>
            <a:r>
              <a:rPr lang="en" sz="6000"/>
              <a:t>ugger</a:t>
            </a:r>
            <a:endParaRPr sz="6000"/>
          </a:p>
        </p:txBody>
      </p:sp>
      <p:sp>
        <p:nvSpPr>
          <p:cNvPr id="77" name="Google Shape;77;p3"/>
          <p:cNvSpPr txBox="1"/>
          <p:nvPr>
            <p:ph type="ctrTitle"/>
          </p:nvPr>
        </p:nvSpPr>
        <p:spPr>
          <a:xfrm>
            <a:off x="731700" y="3068600"/>
            <a:ext cx="7680600" cy="7740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t/>
            </a:r>
            <a:endParaRPr/>
          </a:p>
          <a:p>
            <a:pPr indent="0" lvl="0" marL="0" rtl="0" algn="ctr">
              <a:lnSpc>
                <a:spcPct val="100000"/>
              </a:lnSpc>
              <a:spcBef>
                <a:spcPts val="0"/>
              </a:spcBef>
              <a:spcAft>
                <a:spcPts val="0"/>
              </a:spcAft>
              <a:buSzPts val="5200"/>
              <a:buNone/>
            </a:pPr>
            <a:r>
              <a:rPr lang="en" sz="1800"/>
              <a:t>Like a debugger in XCode or Visual Studio, GDB lets you stop your program at certain points and look at variables. However, GDB is a command line tool (like ls or cd).</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1" name="Shape 81"/>
        <p:cNvGrpSpPr/>
        <p:nvPr/>
      </p:nvGrpSpPr>
      <p:grpSpPr>
        <a:xfrm>
          <a:off x="0" y="0"/>
          <a:ext cx="0" cy="0"/>
          <a:chOff x="0" y="0"/>
          <a:chExt cx="0" cy="0"/>
        </a:xfrm>
      </p:grpSpPr>
      <p:pic>
        <p:nvPicPr>
          <p:cNvPr id="82" name="Google Shape;82;p4"/>
          <p:cNvPicPr preferRelativeResize="0"/>
          <p:nvPr/>
        </p:nvPicPr>
        <p:blipFill rotWithShape="1">
          <a:blip r:embed="rId3">
            <a:alphaModFix/>
          </a:blip>
          <a:srcRect b="0" l="0" r="0" t="0"/>
          <a:stretch/>
        </p:blipFill>
        <p:spPr>
          <a:xfrm>
            <a:off x="633225" y="1659950"/>
            <a:ext cx="2176150" cy="2176150"/>
          </a:xfrm>
          <a:prstGeom prst="rect">
            <a:avLst/>
          </a:prstGeom>
          <a:noFill/>
          <a:ln>
            <a:noFill/>
          </a:ln>
        </p:spPr>
      </p:pic>
      <p:sp>
        <p:nvSpPr>
          <p:cNvPr id="83" name="Google Shape;83;p4"/>
          <p:cNvSpPr txBox="1"/>
          <p:nvPr>
            <p:ph type="ctrTitle"/>
          </p:nvPr>
        </p:nvSpPr>
        <p:spPr>
          <a:xfrm>
            <a:off x="529850" y="753000"/>
            <a:ext cx="8077200" cy="970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3600"/>
              <a:t>Fun Fact Slide</a:t>
            </a:r>
            <a:endParaRPr sz="3600"/>
          </a:p>
          <a:p>
            <a:pPr indent="0" lvl="0" marL="0" rtl="0" algn="ctr">
              <a:lnSpc>
                <a:spcPct val="100000"/>
              </a:lnSpc>
              <a:spcBef>
                <a:spcPts val="0"/>
              </a:spcBef>
              <a:spcAft>
                <a:spcPts val="0"/>
              </a:spcAft>
              <a:buSzPts val="5200"/>
              <a:buNone/>
            </a:pPr>
            <a:r>
              <a:rPr lang="en" sz="4800"/>
              <a:t>What does GNU stand for?</a:t>
            </a:r>
            <a:endParaRPr sz="4800"/>
          </a:p>
        </p:txBody>
      </p:sp>
      <p:sp>
        <p:nvSpPr>
          <p:cNvPr id="84" name="Google Shape;84;p4"/>
          <p:cNvSpPr txBox="1"/>
          <p:nvPr>
            <p:ph type="ctrTitle"/>
          </p:nvPr>
        </p:nvSpPr>
        <p:spPr>
          <a:xfrm>
            <a:off x="1417500" y="1888550"/>
            <a:ext cx="7680600" cy="7740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t/>
            </a:r>
            <a:endParaRPr/>
          </a:p>
          <a:p>
            <a:pPr indent="0" lvl="0" marL="0" rtl="0" algn="ctr">
              <a:lnSpc>
                <a:spcPct val="100000"/>
              </a:lnSpc>
              <a:spcBef>
                <a:spcPts val="0"/>
              </a:spcBef>
              <a:spcAft>
                <a:spcPts val="0"/>
              </a:spcAft>
              <a:buSzPts val="5200"/>
              <a:buNone/>
            </a:pPr>
            <a:r>
              <a:rPr lang="en" sz="3600"/>
              <a:t>GNU's Not Unix</a:t>
            </a:r>
            <a:endParaRPr sz="3600"/>
          </a:p>
        </p:txBody>
      </p:sp>
      <p:sp>
        <p:nvSpPr>
          <p:cNvPr id="85" name="Google Shape;85;p4"/>
          <p:cNvSpPr txBox="1"/>
          <p:nvPr>
            <p:ph type="ctrTitle"/>
          </p:nvPr>
        </p:nvSpPr>
        <p:spPr>
          <a:xfrm>
            <a:off x="2748625" y="2533325"/>
            <a:ext cx="2861100" cy="7740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t/>
            </a:r>
            <a:endParaRPr/>
          </a:p>
          <a:p>
            <a:pPr indent="0" lvl="0" marL="0" rtl="0" algn="ctr">
              <a:lnSpc>
                <a:spcPct val="100000"/>
              </a:lnSpc>
              <a:spcBef>
                <a:spcPts val="0"/>
              </a:spcBef>
              <a:spcAft>
                <a:spcPts val="0"/>
              </a:spcAft>
              <a:buSzPts val="5200"/>
              <a:buNone/>
            </a:pPr>
            <a:r>
              <a:rPr lang="en" sz="3000"/>
              <a:t>GNU's Not Unix</a:t>
            </a:r>
            <a:endParaRPr sz="3000"/>
          </a:p>
        </p:txBody>
      </p:sp>
      <p:sp>
        <p:nvSpPr>
          <p:cNvPr id="86" name="Google Shape;86;p4"/>
          <p:cNvSpPr txBox="1"/>
          <p:nvPr>
            <p:ph type="ctrTitle"/>
          </p:nvPr>
        </p:nvSpPr>
        <p:spPr>
          <a:xfrm>
            <a:off x="2089525" y="3307325"/>
            <a:ext cx="2362200" cy="5604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t/>
            </a:r>
            <a:endParaRPr/>
          </a:p>
          <a:p>
            <a:pPr indent="0" lvl="0" marL="0" rtl="0" algn="ctr">
              <a:lnSpc>
                <a:spcPct val="100000"/>
              </a:lnSpc>
              <a:spcBef>
                <a:spcPts val="0"/>
              </a:spcBef>
              <a:spcAft>
                <a:spcPts val="0"/>
              </a:spcAft>
              <a:buSzPts val="5200"/>
              <a:buNone/>
            </a:pPr>
            <a:r>
              <a:rPr lang="en" sz="2400"/>
              <a:t>GNU's Not Unix</a:t>
            </a:r>
            <a:endParaRPr sz="2400"/>
          </a:p>
        </p:txBody>
      </p:sp>
      <p:sp>
        <p:nvSpPr>
          <p:cNvPr id="87" name="Google Shape;87;p4"/>
          <p:cNvSpPr txBox="1"/>
          <p:nvPr>
            <p:ph type="ctrTitle"/>
          </p:nvPr>
        </p:nvSpPr>
        <p:spPr>
          <a:xfrm>
            <a:off x="1352900" y="3867725"/>
            <a:ext cx="2362200" cy="5604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t/>
            </a:r>
            <a:endParaRPr/>
          </a:p>
          <a:p>
            <a:pPr indent="0" lvl="0" marL="0" rtl="0" algn="ctr">
              <a:lnSpc>
                <a:spcPct val="100000"/>
              </a:lnSpc>
              <a:spcBef>
                <a:spcPts val="0"/>
              </a:spcBef>
              <a:spcAft>
                <a:spcPts val="0"/>
              </a:spcAft>
              <a:buSzPts val="5200"/>
              <a:buNone/>
            </a:pPr>
            <a:r>
              <a:rPr lang="en" sz="1800"/>
              <a:t>GNU's Not Unix</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4"/>
                                        </p:tgtEl>
                                        <p:attrNameLst>
                                          <p:attrName>style.visibility</p:attrName>
                                        </p:attrNameLst>
                                      </p:cBhvr>
                                      <p:to>
                                        <p:strVal val="visible"/>
                                      </p:to>
                                    </p:set>
                                    <p:anim calcmode="lin" valueType="num">
                                      <p:cBhvr additive="base">
                                        <p:cTn dur="1000"/>
                                        <p:tgtEl>
                                          <p:spTgt spid="8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5"/>
                                        </p:tgtEl>
                                        <p:attrNameLst>
                                          <p:attrName>style.visibility</p:attrName>
                                        </p:attrNameLst>
                                      </p:cBhvr>
                                      <p:to>
                                        <p:strVal val="visible"/>
                                      </p:to>
                                    </p:set>
                                    <p:anim calcmode="lin" valueType="num">
                                      <p:cBhvr additive="base">
                                        <p:cTn dur="1000"/>
                                        <p:tgtEl>
                                          <p:spTgt spid="8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6"/>
                                        </p:tgtEl>
                                        <p:attrNameLst>
                                          <p:attrName>style.visibility</p:attrName>
                                        </p:attrNameLst>
                                      </p:cBhvr>
                                      <p:to>
                                        <p:strVal val="visible"/>
                                      </p:to>
                                    </p:set>
                                    <p:anim calcmode="lin" valueType="num">
                                      <p:cBhvr additive="base">
                                        <p:cTn dur="1000"/>
                                        <p:tgtEl>
                                          <p:spTgt spid="8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7"/>
                                        </p:tgtEl>
                                        <p:attrNameLst>
                                          <p:attrName>style.visibility</p:attrName>
                                        </p:attrNameLst>
                                      </p:cBhvr>
                                      <p:to>
                                        <p:strVal val="visible"/>
                                      </p:to>
                                    </p:set>
                                    <p:anim calcmode="lin" valueType="num">
                                      <p:cBhvr additive="base">
                                        <p:cTn dur="1000"/>
                                        <p:tgtEl>
                                          <p:spTgt spid="8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2"/>
                                        </p:tgtEl>
                                        <p:attrNameLst>
                                          <p:attrName>style.visibility</p:attrName>
                                        </p:attrNameLst>
                                      </p:cBhvr>
                                      <p:to>
                                        <p:strVal val="visible"/>
                                      </p:to>
                                    </p:set>
                                    <p:anim calcmode="lin" valueType="num">
                                      <p:cBhvr additive="base">
                                        <p:cTn dur="1000"/>
                                        <p:tgtEl>
                                          <p:spTgt spid="82"/>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5"/>
          <p:cNvSpPr txBox="1"/>
          <p:nvPr>
            <p:ph type="ctrTitle"/>
          </p:nvPr>
        </p:nvSpPr>
        <p:spPr>
          <a:xfrm>
            <a:off x="1607550" y="1080125"/>
            <a:ext cx="5928900" cy="970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4800"/>
              <a:t>How will we use GDB in the lab?</a:t>
            </a:r>
            <a:endParaRPr sz="4800"/>
          </a:p>
        </p:txBody>
      </p:sp>
      <p:sp>
        <p:nvSpPr>
          <p:cNvPr id="93" name="Google Shape;93;p5"/>
          <p:cNvSpPr txBox="1"/>
          <p:nvPr>
            <p:ph type="ctrTitle"/>
          </p:nvPr>
        </p:nvSpPr>
        <p:spPr>
          <a:xfrm>
            <a:off x="731700" y="2513825"/>
            <a:ext cx="7680600" cy="1563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t/>
            </a:r>
            <a:endParaRPr/>
          </a:p>
          <a:p>
            <a:pPr indent="0" lvl="0" marL="0" rtl="0" algn="l">
              <a:lnSpc>
                <a:spcPct val="100000"/>
              </a:lnSpc>
              <a:spcBef>
                <a:spcPts val="0"/>
              </a:spcBef>
              <a:spcAft>
                <a:spcPts val="0"/>
              </a:spcAft>
              <a:buSzPts val="5200"/>
              <a:buNone/>
            </a:pPr>
            <a:r>
              <a:rPr lang="en" sz="1800"/>
              <a:t>You can use GDB as a debugger, but we'll be using it to analyze assembly code. We can:</a:t>
            </a:r>
            <a:endParaRPr sz="1800"/>
          </a:p>
          <a:p>
            <a:pPr indent="0" lvl="0" marL="0" rtl="0" algn="l">
              <a:lnSpc>
                <a:spcPct val="100000"/>
              </a:lnSpc>
              <a:spcBef>
                <a:spcPts val="0"/>
              </a:spcBef>
              <a:spcAft>
                <a:spcPts val="0"/>
              </a:spcAft>
              <a:buSzPts val="5200"/>
              <a:buNone/>
            </a:pPr>
            <a:r>
              <a:t/>
            </a:r>
            <a:endParaRPr sz="1800"/>
          </a:p>
          <a:p>
            <a:pPr indent="-342900" lvl="0" marL="457200" rtl="0" algn="l">
              <a:lnSpc>
                <a:spcPct val="100000"/>
              </a:lnSpc>
              <a:spcBef>
                <a:spcPts val="0"/>
              </a:spcBef>
              <a:spcAft>
                <a:spcPts val="0"/>
              </a:spcAft>
              <a:buSzPts val="1800"/>
              <a:buChar char="●"/>
            </a:pPr>
            <a:r>
              <a:rPr lang="en" sz="1800"/>
              <a:t>View contents of registers</a:t>
            </a:r>
            <a:endParaRPr sz="1800"/>
          </a:p>
          <a:p>
            <a:pPr indent="-342900" lvl="0" marL="457200" rtl="0" algn="l">
              <a:lnSpc>
                <a:spcPct val="100000"/>
              </a:lnSpc>
              <a:spcBef>
                <a:spcPts val="0"/>
              </a:spcBef>
              <a:spcAft>
                <a:spcPts val="0"/>
              </a:spcAft>
              <a:buSzPts val="1800"/>
              <a:buChar char="●"/>
            </a:pPr>
            <a:r>
              <a:rPr lang="en" sz="1800"/>
              <a:t>View contents at different addresses such as on the stack</a:t>
            </a:r>
            <a:endParaRPr sz="1800"/>
          </a:p>
          <a:p>
            <a:pPr indent="-342900" lvl="0" marL="457200" rtl="0" algn="l">
              <a:lnSpc>
                <a:spcPct val="100000"/>
              </a:lnSpc>
              <a:spcBef>
                <a:spcPts val="0"/>
              </a:spcBef>
              <a:spcAft>
                <a:spcPts val="0"/>
              </a:spcAft>
              <a:buSzPts val="1800"/>
              <a:buChar char="●"/>
            </a:pPr>
            <a:r>
              <a:rPr lang="en" sz="1800"/>
              <a:t>Step through lines of assembly code</a:t>
            </a:r>
            <a:endParaRPr sz="1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6"/>
          <p:cNvSpPr txBox="1"/>
          <p:nvPr>
            <p:ph type="ctrTitle"/>
          </p:nvPr>
        </p:nvSpPr>
        <p:spPr>
          <a:xfrm>
            <a:off x="691600" y="188375"/>
            <a:ext cx="7430700" cy="970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2400"/>
              <a:t>We'll be talking about the following commands:</a:t>
            </a:r>
            <a:endParaRPr sz="2400"/>
          </a:p>
        </p:txBody>
      </p:sp>
      <p:sp>
        <p:nvSpPr>
          <p:cNvPr id="99" name="Google Shape;99;p6"/>
          <p:cNvSpPr txBox="1"/>
          <p:nvPr/>
        </p:nvSpPr>
        <p:spPr>
          <a:xfrm>
            <a:off x="787950" y="3654275"/>
            <a:ext cx="7568100" cy="124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Palanquin Dark"/>
              <a:ea typeface="Palanquin Dark"/>
              <a:cs typeface="Palanquin Dark"/>
              <a:sym typeface="Palanquin Dark"/>
            </a:endParaRPr>
          </a:p>
        </p:txBody>
      </p:sp>
      <p:sp>
        <p:nvSpPr>
          <p:cNvPr id="100" name="Google Shape;100;p6"/>
          <p:cNvSpPr txBox="1"/>
          <p:nvPr>
            <p:ph type="ctrTitle"/>
          </p:nvPr>
        </p:nvSpPr>
        <p:spPr>
          <a:xfrm>
            <a:off x="2834350" y="1263890"/>
            <a:ext cx="3145200" cy="2255700"/>
          </a:xfrm>
          <a:prstGeom prst="rect">
            <a:avLst/>
          </a:prstGeom>
          <a:noFill/>
          <a:ln>
            <a:noFill/>
          </a:ln>
        </p:spPr>
        <p:txBody>
          <a:bodyPr anchorCtr="0" anchor="b" bIns="91425" lIns="91425" spcFirstLastPara="1" rIns="91425" wrap="square" tIns="91425">
            <a:noAutofit/>
          </a:bodyPr>
          <a:lstStyle/>
          <a:p>
            <a:pPr indent="-381000" lvl="0" marL="457200" rtl="0" algn="l">
              <a:lnSpc>
                <a:spcPct val="100000"/>
              </a:lnSpc>
              <a:spcBef>
                <a:spcPts val="0"/>
              </a:spcBef>
              <a:spcAft>
                <a:spcPts val="0"/>
              </a:spcAft>
              <a:buSzPts val="2400"/>
              <a:buChar char="●"/>
            </a:pPr>
            <a:r>
              <a:rPr lang="en" sz="2400"/>
              <a:t>Run</a:t>
            </a:r>
            <a:endParaRPr sz="2400"/>
          </a:p>
          <a:p>
            <a:pPr indent="-381000" lvl="0" marL="457200" rtl="0" algn="l">
              <a:lnSpc>
                <a:spcPct val="100000"/>
              </a:lnSpc>
              <a:spcBef>
                <a:spcPts val="0"/>
              </a:spcBef>
              <a:spcAft>
                <a:spcPts val="0"/>
              </a:spcAft>
              <a:buSzPts val="2400"/>
              <a:buChar char="●"/>
            </a:pPr>
            <a:r>
              <a:rPr lang="en" sz="2400"/>
              <a:t>Breakpoints</a:t>
            </a:r>
            <a:endParaRPr sz="2400"/>
          </a:p>
          <a:p>
            <a:pPr indent="-381000" lvl="0" marL="457200" rtl="0" algn="l">
              <a:lnSpc>
                <a:spcPct val="100000"/>
              </a:lnSpc>
              <a:spcBef>
                <a:spcPts val="0"/>
              </a:spcBef>
              <a:spcAft>
                <a:spcPts val="0"/>
              </a:spcAft>
              <a:buSzPts val="2400"/>
              <a:buChar char="●"/>
            </a:pPr>
            <a:r>
              <a:rPr lang="en" sz="2400"/>
              <a:t>Continue</a:t>
            </a:r>
            <a:endParaRPr sz="2400"/>
          </a:p>
          <a:p>
            <a:pPr indent="-381000" lvl="0" marL="457200" rtl="0" algn="l">
              <a:lnSpc>
                <a:spcPct val="100000"/>
              </a:lnSpc>
              <a:spcBef>
                <a:spcPts val="0"/>
              </a:spcBef>
              <a:spcAft>
                <a:spcPts val="0"/>
              </a:spcAft>
              <a:buSzPts val="2400"/>
              <a:buChar char="●"/>
            </a:pPr>
            <a:r>
              <a:rPr lang="en" sz="2400"/>
              <a:t>Step</a:t>
            </a:r>
            <a:endParaRPr sz="2400"/>
          </a:p>
          <a:p>
            <a:pPr indent="-381000" lvl="0" marL="457200" rtl="0" algn="l">
              <a:lnSpc>
                <a:spcPct val="100000"/>
              </a:lnSpc>
              <a:spcBef>
                <a:spcPts val="0"/>
              </a:spcBef>
              <a:spcAft>
                <a:spcPts val="0"/>
              </a:spcAft>
              <a:buSzPts val="2400"/>
              <a:buChar char="●"/>
            </a:pPr>
            <a:r>
              <a:rPr lang="en" sz="2400"/>
              <a:t>Print</a:t>
            </a:r>
            <a:endParaRPr sz="2400"/>
          </a:p>
          <a:p>
            <a:pPr indent="-381000" lvl="0" marL="457200" rtl="0" algn="l">
              <a:lnSpc>
                <a:spcPct val="100000"/>
              </a:lnSpc>
              <a:spcBef>
                <a:spcPts val="0"/>
              </a:spcBef>
              <a:spcAft>
                <a:spcPts val="0"/>
              </a:spcAft>
              <a:buSzPts val="2400"/>
              <a:buChar char="●"/>
            </a:pPr>
            <a:r>
              <a:rPr lang="en" sz="2400"/>
              <a:t>Examine</a:t>
            </a:r>
            <a:endParaRPr sz="2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4" name="Shape 104"/>
        <p:cNvGrpSpPr/>
        <p:nvPr/>
      </p:nvGrpSpPr>
      <p:grpSpPr>
        <a:xfrm>
          <a:off x="0" y="0"/>
          <a:ext cx="0" cy="0"/>
          <a:chOff x="0" y="0"/>
          <a:chExt cx="0" cy="0"/>
        </a:xfrm>
      </p:grpSpPr>
      <p:sp>
        <p:nvSpPr>
          <p:cNvPr id="105" name="Google Shape;105;p7"/>
          <p:cNvSpPr txBox="1"/>
          <p:nvPr>
            <p:ph type="ctrTitle"/>
          </p:nvPr>
        </p:nvSpPr>
        <p:spPr>
          <a:xfrm>
            <a:off x="1607550" y="162550"/>
            <a:ext cx="5928900" cy="970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3600"/>
              <a:t>DEMO/Walkthrough</a:t>
            </a:r>
            <a:endParaRPr sz="3600"/>
          </a:p>
        </p:txBody>
      </p:sp>
      <p:sp>
        <p:nvSpPr>
          <p:cNvPr id="106" name="Google Shape;106;p7"/>
          <p:cNvSpPr txBox="1"/>
          <p:nvPr/>
        </p:nvSpPr>
        <p:spPr>
          <a:xfrm>
            <a:off x="387700" y="511475"/>
            <a:ext cx="672000" cy="478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alanquin Dark"/>
              <a:ea typeface="Palanquin Dark"/>
              <a:cs typeface="Palanquin Dark"/>
              <a:sym typeface="Palanquin Dark"/>
            </a:endParaRPr>
          </a:p>
        </p:txBody>
      </p:sp>
      <p:sp>
        <p:nvSpPr>
          <p:cNvPr id="107" name="Google Shape;107;p7"/>
          <p:cNvSpPr txBox="1"/>
          <p:nvPr/>
        </p:nvSpPr>
        <p:spPr>
          <a:xfrm>
            <a:off x="633225" y="1042600"/>
            <a:ext cx="7767000" cy="258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2400" u="none" cap="none" strike="noStrike">
                <a:solidFill>
                  <a:schemeClr val="dk1"/>
                </a:solidFill>
                <a:latin typeface="Palanquin Dark"/>
                <a:ea typeface="Palanquin Dark"/>
                <a:cs typeface="Palanquin Dark"/>
                <a:sym typeface="Palanquin Dark"/>
              </a:rPr>
              <a:t>Here's where you can download our demo program:</a:t>
            </a:r>
            <a:endParaRPr b="0" i="0" sz="2400" u="none" cap="none" strike="noStrike">
              <a:solidFill>
                <a:schemeClr val="dk1"/>
              </a:solidFill>
              <a:latin typeface="Palanquin Dark"/>
              <a:ea typeface="Palanquin Dark"/>
              <a:cs typeface="Palanquin Dark"/>
              <a:sym typeface="Palanquin Dark"/>
            </a:endParaRPr>
          </a:p>
          <a:p>
            <a:pPr indent="0" lvl="0" marL="0" marR="0" rtl="0" algn="l">
              <a:lnSpc>
                <a:spcPct val="100000"/>
              </a:lnSpc>
              <a:spcBef>
                <a:spcPts val="0"/>
              </a:spcBef>
              <a:spcAft>
                <a:spcPts val="0"/>
              </a:spcAft>
              <a:buClr>
                <a:srgbClr val="000000"/>
              </a:buClr>
              <a:buSzPts val="2400"/>
              <a:buFont typeface="Arial"/>
              <a:buNone/>
            </a:pPr>
            <a:r>
              <a:rPr b="0" i="0" lang="en" sz="2400" u="sng" cap="none" strike="noStrike">
                <a:solidFill>
                  <a:schemeClr val="accent5"/>
                </a:solidFill>
                <a:latin typeface="Palanquin Dark"/>
                <a:ea typeface="Palanquin Dark"/>
                <a:cs typeface="Palanquin Dark"/>
                <a:sym typeface="Palanquin Dark"/>
                <a:hlinkClick r:id="rId3">
                  <a:extLst>
                    <a:ext uri="{A12FA001-AC4F-418D-AE19-62706E023703}">
                      <ahyp:hlinkClr val="tx"/>
                    </a:ext>
                  </a:extLst>
                </a:hlinkClick>
              </a:rPr>
              <a:t>https://tinyurl.com/avengers33</a:t>
            </a:r>
            <a:endParaRPr b="0" i="0" sz="1400" u="none" cap="none" strike="noStrike">
              <a:solidFill>
                <a:schemeClr val="dk1"/>
              </a:solidFill>
              <a:latin typeface="Palanquin Dark"/>
              <a:ea typeface="Palanquin Dark"/>
              <a:cs typeface="Palanquin Dark"/>
              <a:sym typeface="Palanquin Dark"/>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Palanquin Dark"/>
              <a:ea typeface="Palanquin Dark"/>
              <a:cs typeface="Palanquin Dark"/>
              <a:sym typeface="Palanquin Dark"/>
            </a:endParaRPr>
          </a:p>
          <a:p>
            <a:pPr indent="0" lvl="0" marL="0" marR="0" rtl="0" algn="l">
              <a:lnSpc>
                <a:spcPct val="100000"/>
              </a:lnSpc>
              <a:spcBef>
                <a:spcPts val="0"/>
              </a:spcBef>
              <a:spcAft>
                <a:spcPts val="0"/>
              </a:spcAft>
              <a:buClr>
                <a:schemeClr val="dk1"/>
              </a:buClr>
              <a:buSzPts val="1100"/>
              <a:buFont typeface="Arial"/>
              <a:buNone/>
            </a:pPr>
            <a:r>
              <a:rPr b="0" i="0" lang="en" sz="2300" u="none" cap="none" strike="noStrike">
                <a:solidFill>
                  <a:schemeClr val="dk1"/>
                </a:solidFill>
                <a:latin typeface="Palanquin Dark"/>
                <a:ea typeface="Palanquin Dark"/>
                <a:cs typeface="Palanquin Dark"/>
                <a:sym typeface="Palanquin Dark"/>
              </a:rPr>
              <a:t>Follow along!</a:t>
            </a:r>
            <a:endParaRPr b="0" i="0" sz="2300" u="none" cap="none" strike="noStrike">
              <a:solidFill>
                <a:schemeClr val="dk1"/>
              </a:solidFill>
              <a:latin typeface="Palanquin Dark"/>
              <a:ea typeface="Palanquin Dark"/>
              <a:cs typeface="Palanquin Dark"/>
              <a:sym typeface="Palanquin Dark"/>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8"/>
          <p:cNvSpPr txBox="1"/>
          <p:nvPr>
            <p:ph type="ctrTitle"/>
          </p:nvPr>
        </p:nvSpPr>
        <p:spPr>
          <a:xfrm>
            <a:off x="1607550" y="201350"/>
            <a:ext cx="5928900" cy="970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3600"/>
              <a:t>How to start gdb</a:t>
            </a:r>
            <a:endParaRPr sz="3600"/>
          </a:p>
        </p:txBody>
      </p:sp>
      <p:sp>
        <p:nvSpPr>
          <p:cNvPr id="113" name="Google Shape;113;p8"/>
          <p:cNvSpPr txBox="1"/>
          <p:nvPr/>
        </p:nvSpPr>
        <p:spPr>
          <a:xfrm>
            <a:off x="714425" y="1236475"/>
            <a:ext cx="7844400" cy="478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Palanquin Dark"/>
                <a:ea typeface="Palanquin Dark"/>
                <a:cs typeface="Palanquin Dark"/>
                <a:sym typeface="Palanquin Dark"/>
              </a:rPr>
              <a:t>In the folder that contains your executable, type gdb &lt;executable_name&gt;</a:t>
            </a:r>
            <a:endParaRPr b="0" i="0" sz="1800" u="none" cap="none" strike="noStrike">
              <a:solidFill>
                <a:srgbClr val="000000"/>
              </a:solidFill>
              <a:latin typeface="Palanquin Dark"/>
              <a:ea typeface="Palanquin Dark"/>
              <a:cs typeface="Palanquin Dark"/>
              <a:sym typeface="Palanquin Dark"/>
            </a:endParaRPr>
          </a:p>
        </p:txBody>
      </p:sp>
      <p:pic>
        <p:nvPicPr>
          <p:cNvPr id="114" name="Google Shape;114;p8"/>
          <p:cNvPicPr preferRelativeResize="0"/>
          <p:nvPr/>
        </p:nvPicPr>
        <p:blipFill rotWithShape="1">
          <a:blip r:embed="rId3">
            <a:alphaModFix/>
          </a:blip>
          <a:srcRect b="0" l="0" r="0" t="0"/>
          <a:stretch/>
        </p:blipFill>
        <p:spPr>
          <a:xfrm>
            <a:off x="1607550" y="1779294"/>
            <a:ext cx="5928901" cy="2765430"/>
          </a:xfrm>
          <a:prstGeom prst="rect">
            <a:avLst/>
          </a:prstGeom>
          <a:noFill/>
          <a:ln>
            <a:noFill/>
          </a:ln>
          <a:effectLst>
            <a:outerShdw blurRad="57150" rotWithShape="0" algn="bl" dir="5400000" dist="19050">
              <a:srgbClr val="000000">
                <a:alpha val="49019"/>
              </a:srgbClr>
            </a:outerShdw>
          </a:effectLst>
        </p:spPr>
      </p:pic>
      <p:sp>
        <p:nvSpPr>
          <p:cNvPr id="115" name="Google Shape;115;p8"/>
          <p:cNvSpPr/>
          <p:nvPr/>
        </p:nvSpPr>
        <p:spPr>
          <a:xfrm>
            <a:off x="4574875" y="1842600"/>
            <a:ext cx="646200" cy="1551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9"/>
          <p:cNvSpPr txBox="1"/>
          <p:nvPr>
            <p:ph type="ctrTitle"/>
          </p:nvPr>
        </p:nvSpPr>
        <p:spPr>
          <a:xfrm>
            <a:off x="1607550" y="201350"/>
            <a:ext cx="5928900" cy="970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3600"/>
              <a:t>How to quit gdb</a:t>
            </a:r>
            <a:endParaRPr sz="3600"/>
          </a:p>
        </p:txBody>
      </p:sp>
      <p:sp>
        <p:nvSpPr>
          <p:cNvPr id="121" name="Google Shape;121;p9"/>
          <p:cNvSpPr txBox="1"/>
          <p:nvPr/>
        </p:nvSpPr>
        <p:spPr>
          <a:xfrm>
            <a:off x="1777650" y="1584050"/>
            <a:ext cx="5269200" cy="47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Palanquin Dark"/>
                <a:ea typeface="Palanquin Dark"/>
                <a:cs typeface="Palanquin Dark"/>
                <a:sym typeface="Palanquin Dark"/>
              </a:rPr>
              <a:t>Type quit and you'll return to your shell.</a:t>
            </a:r>
            <a:endParaRPr b="0" i="0" sz="1800" u="none" cap="none" strike="noStrike">
              <a:solidFill>
                <a:srgbClr val="000000"/>
              </a:solidFill>
              <a:latin typeface="Palanquin Dark"/>
              <a:ea typeface="Palanquin Dark"/>
              <a:cs typeface="Palanquin Dark"/>
              <a:sym typeface="Palanquin Dark"/>
            </a:endParaRPr>
          </a:p>
        </p:txBody>
      </p:sp>
      <p:pic>
        <p:nvPicPr>
          <p:cNvPr id="122" name="Google Shape;122;p9"/>
          <p:cNvPicPr preferRelativeResize="0"/>
          <p:nvPr/>
        </p:nvPicPr>
        <p:blipFill rotWithShape="1">
          <a:blip r:embed="rId3">
            <a:alphaModFix/>
          </a:blip>
          <a:srcRect b="0" l="0" r="0" t="0"/>
          <a:stretch/>
        </p:blipFill>
        <p:spPr>
          <a:xfrm>
            <a:off x="1288050" y="2474450"/>
            <a:ext cx="6248400" cy="685800"/>
          </a:xfrm>
          <a:prstGeom prst="rect">
            <a:avLst/>
          </a:prstGeom>
          <a:noFill/>
          <a:ln>
            <a:noFill/>
          </a:ln>
          <a:effectLst>
            <a:outerShdw blurRad="57150" rotWithShape="0" algn="bl" dir="5400000" dist="19050">
              <a:srgbClr val="000000">
                <a:alpha val="49019"/>
              </a:srgbClr>
            </a:outerShdw>
          </a:effectLst>
        </p:spPr>
      </p:pic>
      <p:sp>
        <p:nvSpPr>
          <p:cNvPr id="123" name="Google Shape;123;p9"/>
          <p:cNvSpPr/>
          <p:nvPr/>
        </p:nvSpPr>
        <p:spPr>
          <a:xfrm>
            <a:off x="2132375" y="2540450"/>
            <a:ext cx="775500" cy="2457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0"/>
          <p:cNvSpPr txBox="1"/>
          <p:nvPr>
            <p:ph type="ctrTitle"/>
          </p:nvPr>
        </p:nvSpPr>
        <p:spPr>
          <a:xfrm>
            <a:off x="1607550" y="201350"/>
            <a:ext cx="5928900" cy="970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3600"/>
              <a:t>Run a program</a:t>
            </a:r>
            <a:endParaRPr sz="3600"/>
          </a:p>
        </p:txBody>
      </p:sp>
      <p:sp>
        <p:nvSpPr>
          <p:cNvPr id="129" name="Google Shape;129;p10"/>
          <p:cNvSpPr txBox="1"/>
          <p:nvPr/>
        </p:nvSpPr>
        <p:spPr>
          <a:xfrm>
            <a:off x="1137250" y="1248050"/>
            <a:ext cx="7043400" cy="47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Palanquin Dark"/>
                <a:ea typeface="Palanquin Dark"/>
                <a:cs typeface="Palanquin Dark"/>
                <a:sym typeface="Palanquin Dark"/>
              </a:rPr>
              <a:t>For all of the following commands, assume you type them at the gdb prompt, after (gdb)</a:t>
            </a:r>
            <a:endParaRPr b="0" i="0" sz="1800" u="none" cap="none" strike="noStrike">
              <a:solidFill>
                <a:srgbClr val="000000"/>
              </a:solidFill>
              <a:latin typeface="Palanquin Dark"/>
              <a:ea typeface="Palanquin Dark"/>
              <a:cs typeface="Palanquin Dark"/>
              <a:sym typeface="Palanquin Dark"/>
            </a:endParaRPr>
          </a:p>
        </p:txBody>
      </p:sp>
      <p:sp>
        <p:nvSpPr>
          <p:cNvPr id="130" name="Google Shape;130;p10"/>
          <p:cNvSpPr txBox="1"/>
          <p:nvPr/>
        </p:nvSpPr>
        <p:spPr>
          <a:xfrm>
            <a:off x="3844750" y="2101050"/>
            <a:ext cx="1628400" cy="72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0"/>
              <a:buFont typeface="Arial"/>
              <a:buNone/>
            </a:pPr>
            <a:r>
              <a:rPr b="0" i="0" lang="en" sz="6000" u="none" cap="none" strike="noStrike">
                <a:solidFill>
                  <a:srgbClr val="000000"/>
                </a:solidFill>
                <a:latin typeface="Courier New"/>
                <a:ea typeface="Courier New"/>
                <a:cs typeface="Courier New"/>
                <a:sym typeface="Courier New"/>
              </a:rPr>
              <a:t>run</a:t>
            </a:r>
            <a:endParaRPr b="0" i="0" sz="6000" u="none" cap="none" strike="noStrike">
              <a:solidFill>
                <a:srgbClr val="000000"/>
              </a:solidFill>
              <a:latin typeface="Courier New"/>
              <a:ea typeface="Courier New"/>
              <a:cs typeface="Courier New"/>
              <a:sym typeface="Courier New"/>
            </a:endParaRPr>
          </a:p>
        </p:txBody>
      </p:sp>
      <p:sp>
        <p:nvSpPr>
          <p:cNvPr id="131" name="Google Shape;131;p10"/>
          <p:cNvSpPr txBox="1"/>
          <p:nvPr/>
        </p:nvSpPr>
        <p:spPr>
          <a:xfrm>
            <a:off x="1937400" y="3532775"/>
            <a:ext cx="5269200" cy="47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Palanquin Dark"/>
                <a:ea typeface="Palanquin Dark"/>
                <a:cs typeface="Palanquin Dark"/>
                <a:sym typeface="Palanquin Dark"/>
              </a:rPr>
              <a:t>If you run the program without setting any breakpoints, it will run normally without stopping.</a:t>
            </a:r>
            <a:endParaRPr b="0" i="0" sz="1800" u="none" cap="none" strike="noStrike">
              <a:solidFill>
                <a:srgbClr val="000000"/>
              </a:solidFill>
              <a:latin typeface="Palanquin Dark"/>
              <a:ea typeface="Palanquin Dark"/>
              <a:cs typeface="Palanquin Dark"/>
              <a:sym typeface="Palanquin Dark"/>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1"/>
          <p:cNvSpPr txBox="1"/>
          <p:nvPr>
            <p:ph type="ctrTitle"/>
          </p:nvPr>
        </p:nvSpPr>
        <p:spPr>
          <a:xfrm>
            <a:off x="1607550" y="201350"/>
            <a:ext cx="5928900" cy="970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3600"/>
              <a:t>Running With Arguments</a:t>
            </a:r>
            <a:endParaRPr sz="3600"/>
          </a:p>
        </p:txBody>
      </p:sp>
      <p:sp>
        <p:nvSpPr>
          <p:cNvPr id="137" name="Google Shape;137;p11"/>
          <p:cNvSpPr txBox="1"/>
          <p:nvPr/>
        </p:nvSpPr>
        <p:spPr>
          <a:xfrm>
            <a:off x="1137250" y="1248050"/>
            <a:ext cx="7043400" cy="852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Palanquin Dark"/>
                <a:ea typeface="Palanquin Dark"/>
                <a:cs typeface="Palanquin Dark"/>
                <a:sym typeface="Palanquin Dark"/>
              </a:rPr>
              <a:t>You may want to supply arguments to your program:</a:t>
            </a:r>
            <a:endParaRPr b="0" i="0" sz="1800" u="none" cap="none" strike="noStrike">
              <a:solidFill>
                <a:srgbClr val="000000"/>
              </a:solidFill>
              <a:latin typeface="Palanquin Dark"/>
              <a:ea typeface="Palanquin Dark"/>
              <a:cs typeface="Palanquin Dark"/>
              <a:sym typeface="Palanquin Dark"/>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Palanquin Dark"/>
                <a:ea typeface="Palanquin Dark"/>
                <a:cs typeface="Palanquin Dark"/>
                <a:sym typeface="Palanquin Dark"/>
              </a:rPr>
              <a:t>(e.g. </a:t>
            </a:r>
            <a:r>
              <a:rPr b="0" i="0" lang="en" sz="1800" u="none" cap="none" strike="noStrike">
                <a:solidFill>
                  <a:srgbClr val="000000"/>
                </a:solidFill>
                <a:latin typeface="Courier New"/>
                <a:ea typeface="Courier New"/>
                <a:cs typeface="Courier New"/>
                <a:sym typeface="Courier New"/>
              </a:rPr>
              <a:t>./my_program “hello”</a:t>
            </a:r>
            <a:r>
              <a:rPr b="0" i="0" lang="en" sz="1800" u="none" cap="none" strike="noStrike">
                <a:solidFill>
                  <a:srgbClr val="000000"/>
                </a:solidFill>
                <a:latin typeface="Palanquin Dark"/>
                <a:ea typeface="Palanquin Dark"/>
                <a:cs typeface="Palanquin Dark"/>
                <a:sym typeface="Palanquin Dark"/>
              </a:rPr>
              <a:t>)</a:t>
            </a:r>
            <a:endParaRPr b="0" i="0" sz="1800" u="none" cap="none" strike="noStrike">
              <a:solidFill>
                <a:srgbClr val="000000"/>
              </a:solidFill>
              <a:latin typeface="Palanquin Dark"/>
              <a:ea typeface="Palanquin Dark"/>
              <a:cs typeface="Palanquin Dark"/>
              <a:sym typeface="Palanquin Dark"/>
            </a:endParaRPr>
          </a:p>
        </p:txBody>
      </p:sp>
      <p:sp>
        <p:nvSpPr>
          <p:cNvPr id="138" name="Google Shape;138;p11"/>
          <p:cNvSpPr txBox="1"/>
          <p:nvPr/>
        </p:nvSpPr>
        <p:spPr>
          <a:xfrm>
            <a:off x="844500" y="2101050"/>
            <a:ext cx="7455000" cy="1251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800"/>
              <a:buFont typeface="Arial"/>
              <a:buNone/>
            </a:pPr>
            <a:r>
              <a:rPr b="0" i="0" lang="en" sz="4800" u="none" cap="none" strike="noStrike">
                <a:solidFill>
                  <a:srgbClr val="000000"/>
                </a:solidFill>
                <a:latin typeface="Courier New"/>
                <a:ea typeface="Courier New"/>
                <a:cs typeface="Courier New"/>
                <a:sym typeface="Courier New"/>
              </a:rPr>
              <a:t>run “hello”</a:t>
            </a:r>
            <a:endParaRPr b="0" i="0" sz="4800" u="none" cap="none" strike="noStrike">
              <a:solidFill>
                <a:srgbClr val="000000"/>
              </a:solidFill>
              <a:latin typeface="Courier New"/>
              <a:ea typeface="Courier New"/>
              <a:cs typeface="Courier New"/>
              <a:sym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type="ctrTitle"/>
          </p:nvPr>
        </p:nvSpPr>
        <p:spPr>
          <a:xfrm>
            <a:off x="1607550" y="201350"/>
            <a:ext cx="5928900" cy="970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3600"/>
              <a:t>Repeatable Text</a:t>
            </a:r>
            <a:endParaRPr sz="3600"/>
          </a:p>
        </p:txBody>
      </p:sp>
      <p:sp>
        <p:nvSpPr>
          <p:cNvPr id="144" name="Google Shape;144;p12"/>
          <p:cNvSpPr txBox="1"/>
          <p:nvPr/>
        </p:nvSpPr>
        <p:spPr>
          <a:xfrm>
            <a:off x="535650" y="1248050"/>
            <a:ext cx="8072700" cy="3495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Palanquin Dark"/>
                <a:ea typeface="Palanquin Dark"/>
                <a:cs typeface="Palanquin Dark"/>
                <a:sym typeface="Palanquin Dark"/>
              </a:rPr>
              <a:t>The bomb lab (and attack lab) will ask for you to supply input text.</a:t>
            </a:r>
            <a:endParaRPr b="0" i="0" sz="1800" u="none" cap="none" strike="noStrike">
              <a:solidFill>
                <a:srgbClr val="000000"/>
              </a:solidFill>
              <a:latin typeface="Palanquin Dark"/>
              <a:ea typeface="Palanquin Dark"/>
              <a:cs typeface="Palanquin Dark"/>
              <a:sym typeface="Palanquin Dark"/>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Palanquin Dark"/>
              <a:ea typeface="Palanquin Dark"/>
              <a:cs typeface="Palanquin Dark"/>
              <a:sym typeface="Palanquin Dark"/>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Palanquin Dark"/>
                <a:ea typeface="Palanquin Dark"/>
                <a:cs typeface="Palanquin Dark"/>
                <a:sym typeface="Palanquin Dark"/>
              </a:rPr>
              <a:t>This can get repetitive and is prone to error.</a:t>
            </a:r>
            <a:endParaRPr b="0" i="0" sz="1800" u="none" cap="none" strike="noStrike">
              <a:solidFill>
                <a:srgbClr val="000000"/>
              </a:solidFill>
              <a:latin typeface="Palanquin Dark"/>
              <a:ea typeface="Palanquin Dark"/>
              <a:cs typeface="Palanquin Dark"/>
              <a:sym typeface="Palanquin Dark"/>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Palanquin Dark"/>
              <a:ea typeface="Palanquin Dark"/>
              <a:cs typeface="Palanquin Dark"/>
              <a:sym typeface="Palanquin Dark"/>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Palanquin Dark"/>
                <a:ea typeface="Palanquin Dark"/>
                <a:cs typeface="Palanquin Dark"/>
                <a:sym typeface="Palanquin Dark"/>
              </a:rPr>
              <a:t>GDB allows you to supply a </a:t>
            </a:r>
            <a:r>
              <a:rPr b="1" i="0" lang="en" sz="1800" u="none" cap="none" strike="noStrike">
                <a:solidFill>
                  <a:srgbClr val="000000"/>
                </a:solidFill>
                <a:latin typeface="Palanquin Dark"/>
                <a:ea typeface="Palanquin Dark"/>
                <a:cs typeface="Palanquin Dark"/>
                <a:sym typeface="Palanquin Dark"/>
              </a:rPr>
              <a:t>file</a:t>
            </a:r>
            <a:r>
              <a:rPr b="0" i="0" lang="en" sz="1800" u="none" cap="none" strike="noStrike">
                <a:solidFill>
                  <a:srgbClr val="000000"/>
                </a:solidFill>
                <a:latin typeface="Palanquin Dark"/>
                <a:ea typeface="Palanquin Dark"/>
                <a:cs typeface="Palanquin Dark"/>
                <a:sym typeface="Palanquin Dark"/>
              </a:rPr>
              <a:t> as input, instead of you typing.</a:t>
            </a:r>
            <a:endParaRPr b="0" i="0" sz="1800" u="none" cap="none" strike="noStrike">
              <a:solidFill>
                <a:srgbClr val="000000"/>
              </a:solidFill>
              <a:latin typeface="Palanquin Dark"/>
              <a:ea typeface="Palanquin Dark"/>
              <a:cs typeface="Palanquin Dark"/>
              <a:sym typeface="Palanquin Dark"/>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Palanquin Dark"/>
              <a:ea typeface="Palanquin Dark"/>
              <a:cs typeface="Palanquin Dark"/>
              <a:sym typeface="Palanquin Dark"/>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Palanquin Dark"/>
                <a:ea typeface="Palanquin Dark"/>
                <a:cs typeface="Palanquin Dark"/>
                <a:sym typeface="Palanquin Dark"/>
              </a:rPr>
              <a:t>Each line of the file will correspond to one “prompt” by the program.</a:t>
            </a:r>
            <a:endParaRPr b="0" i="0" sz="1800" u="none" cap="none" strike="noStrike">
              <a:solidFill>
                <a:srgbClr val="000000"/>
              </a:solidFill>
              <a:latin typeface="Palanquin Dark"/>
              <a:ea typeface="Palanquin Dark"/>
              <a:cs typeface="Palanquin Dark"/>
              <a:sym typeface="Palanquin Dark"/>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Palanquin Dark"/>
              <a:ea typeface="Palanquin Dark"/>
              <a:cs typeface="Palanquin Dark"/>
              <a:sym typeface="Palanquin Dark"/>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Palanquin Dark"/>
              <a:ea typeface="Palanquin Dark"/>
              <a:cs typeface="Palanquin Dark"/>
              <a:sym typeface="Palanquin Dark"/>
            </a:endParaRPr>
          </a:p>
        </p:txBody>
      </p:sp>
      <p:sp>
        <p:nvSpPr>
          <p:cNvPr id="145" name="Google Shape;145;p12"/>
          <p:cNvSpPr txBox="1"/>
          <p:nvPr/>
        </p:nvSpPr>
        <p:spPr>
          <a:xfrm>
            <a:off x="844500" y="3430300"/>
            <a:ext cx="7455000" cy="1251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800"/>
              <a:buFont typeface="Arial"/>
              <a:buNone/>
            </a:pPr>
            <a:r>
              <a:rPr b="0" i="0" lang="en" sz="4800" u="none" cap="none" strike="noStrike">
                <a:solidFill>
                  <a:srgbClr val="000000"/>
                </a:solidFill>
                <a:latin typeface="Courier New"/>
                <a:ea typeface="Courier New"/>
                <a:cs typeface="Courier New"/>
                <a:sym typeface="Courier New"/>
              </a:rPr>
              <a:t>run &lt; input.txt</a:t>
            </a:r>
            <a:endParaRPr b="0" i="0" sz="4800" u="none" cap="none" strike="noStrike">
              <a:solidFill>
                <a:srgbClr val="000000"/>
              </a:solidFill>
              <a:latin typeface="Courier New"/>
              <a:ea typeface="Courier New"/>
              <a:cs typeface="Courier New"/>
              <a:sym typeface="Courier New"/>
            </a:endParaRPr>
          </a:p>
        </p:txBody>
      </p:sp>
      <p:sp>
        <p:nvSpPr>
          <p:cNvPr id="146" name="Google Shape;146;p12"/>
          <p:cNvSpPr txBox="1"/>
          <p:nvPr/>
        </p:nvSpPr>
        <p:spPr>
          <a:xfrm>
            <a:off x="1379850" y="4393950"/>
            <a:ext cx="63843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alanquin Dark"/>
                <a:ea typeface="Palanquin Dark"/>
                <a:cs typeface="Palanquin Dark"/>
                <a:sym typeface="Palanquin Dark"/>
              </a:rPr>
              <a:t>Additional References: </a:t>
            </a:r>
            <a:r>
              <a:rPr b="0" i="0" lang="en" sz="1400" u="sng" cap="none" strike="noStrike">
                <a:solidFill>
                  <a:schemeClr val="hlink"/>
                </a:solidFill>
                <a:latin typeface="Palanquin Dark"/>
                <a:ea typeface="Palanquin Dark"/>
                <a:cs typeface="Palanquin Dark"/>
                <a:sym typeface="Palanquin Dark"/>
                <a:hlinkClick r:id="rId3"/>
              </a:rPr>
              <a:t>https://stackoverflow.com/q/4758175</a:t>
            </a:r>
            <a:endParaRPr b="0" i="0" sz="1400" u="none" cap="none" strike="noStrike">
              <a:solidFill>
                <a:srgbClr val="000000"/>
              </a:solidFill>
              <a:latin typeface="Palanquin Dark"/>
              <a:ea typeface="Palanquin Dark"/>
              <a:cs typeface="Palanquin Dark"/>
              <a:sym typeface="Palanquin Dark"/>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alanquin Dark"/>
              <a:ea typeface="Palanquin Dark"/>
              <a:cs typeface="Palanquin Dark"/>
              <a:sym typeface="Palanquin Dark"/>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3"/>
          <p:cNvSpPr txBox="1"/>
          <p:nvPr>
            <p:ph type="ctrTitle"/>
          </p:nvPr>
        </p:nvSpPr>
        <p:spPr>
          <a:xfrm>
            <a:off x="1607550" y="201350"/>
            <a:ext cx="5928900" cy="970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3600"/>
              <a:t>Breakpoints</a:t>
            </a:r>
            <a:endParaRPr sz="3600"/>
          </a:p>
        </p:txBody>
      </p:sp>
      <p:sp>
        <p:nvSpPr>
          <p:cNvPr id="152" name="Google Shape;152;p13"/>
          <p:cNvSpPr txBox="1"/>
          <p:nvPr/>
        </p:nvSpPr>
        <p:spPr>
          <a:xfrm>
            <a:off x="1137250" y="1248050"/>
            <a:ext cx="7043400" cy="47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Palanquin Dark"/>
                <a:ea typeface="Palanquin Dark"/>
                <a:cs typeface="Palanquin Dark"/>
                <a:sym typeface="Palanquin Dark"/>
              </a:rPr>
              <a:t>To stop the program at a particular point</a:t>
            </a:r>
            <a:endParaRPr b="0" i="0" sz="1800" u="none" cap="none" strike="noStrike">
              <a:solidFill>
                <a:srgbClr val="000000"/>
              </a:solidFill>
              <a:latin typeface="Palanquin Dark"/>
              <a:ea typeface="Palanquin Dark"/>
              <a:cs typeface="Palanquin Dark"/>
              <a:sym typeface="Palanquin Dark"/>
            </a:endParaRPr>
          </a:p>
        </p:txBody>
      </p:sp>
      <p:sp>
        <p:nvSpPr>
          <p:cNvPr id="153" name="Google Shape;153;p13"/>
          <p:cNvSpPr txBox="1"/>
          <p:nvPr/>
        </p:nvSpPr>
        <p:spPr>
          <a:xfrm>
            <a:off x="1694500" y="1802450"/>
            <a:ext cx="5928900" cy="724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800"/>
              <a:buFont typeface="Arial"/>
              <a:buNone/>
            </a:pPr>
            <a:r>
              <a:rPr b="0" i="0" lang="en" sz="4800" u="none" cap="none" strike="noStrike">
                <a:solidFill>
                  <a:srgbClr val="000000"/>
                </a:solidFill>
                <a:latin typeface="Courier New"/>
                <a:ea typeface="Courier New"/>
                <a:cs typeface="Courier New"/>
                <a:sym typeface="Courier New"/>
              </a:rPr>
              <a:t>break </a:t>
            </a:r>
            <a:r>
              <a:rPr b="0" i="1" lang="en" sz="4800" u="none" cap="none" strike="noStrike">
                <a:solidFill>
                  <a:srgbClr val="000000"/>
                </a:solidFill>
                <a:latin typeface="Courier New"/>
                <a:ea typeface="Courier New"/>
                <a:cs typeface="Courier New"/>
                <a:sym typeface="Courier New"/>
              </a:rPr>
              <a:t>location</a:t>
            </a:r>
            <a:endParaRPr b="0" i="1" sz="4800" u="none" cap="none" strike="noStrike">
              <a:solidFill>
                <a:srgbClr val="000000"/>
              </a:solidFill>
              <a:latin typeface="Courier New"/>
              <a:ea typeface="Courier New"/>
              <a:cs typeface="Courier New"/>
              <a:sym typeface="Courier New"/>
            </a:endParaRPr>
          </a:p>
        </p:txBody>
      </p:sp>
      <p:sp>
        <p:nvSpPr>
          <p:cNvPr id="154" name="Google Shape;154;p13"/>
          <p:cNvSpPr txBox="1"/>
          <p:nvPr/>
        </p:nvSpPr>
        <p:spPr>
          <a:xfrm>
            <a:off x="1137250" y="2965300"/>
            <a:ext cx="7043400" cy="47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Palanquin Dark"/>
                <a:ea typeface="Palanquin Dark"/>
                <a:cs typeface="Palanquin Dark"/>
                <a:sym typeface="Palanquin Dark"/>
              </a:rPr>
              <a:t>The argument for break can be a function name or an address. (It can also be a line number, but since you aren't given the source file, this is not very useful.)</a:t>
            </a:r>
            <a:endParaRPr b="0" i="0" sz="1800" u="none" cap="none" strike="noStrike">
              <a:solidFill>
                <a:srgbClr val="000000"/>
              </a:solidFill>
              <a:latin typeface="Palanquin Dark"/>
              <a:ea typeface="Palanquin Dark"/>
              <a:cs typeface="Palanquin Dark"/>
              <a:sym typeface="Palanquin Dark"/>
            </a:endParaRPr>
          </a:p>
        </p:txBody>
      </p:sp>
      <p:sp>
        <p:nvSpPr>
          <p:cNvPr id="155" name="Google Shape;155;p13"/>
          <p:cNvSpPr txBox="1"/>
          <p:nvPr/>
        </p:nvSpPr>
        <p:spPr>
          <a:xfrm>
            <a:off x="1137250" y="4370400"/>
            <a:ext cx="7043400" cy="47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Palanquin Dark"/>
                <a:ea typeface="Palanquin Dark"/>
                <a:cs typeface="Palanquin Dark"/>
                <a:sym typeface="Palanquin Dark"/>
              </a:rPr>
              <a:t>Documentation: </a:t>
            </a:r>
            <a:r>
              <a:rPr b="0" i="0" lang="en" sz="1200" u="sng" cap="none" strike="noStrike">
                <a:solidFill>
                  <a:schemeClr val="hlink"/>
                </a:solidFill>
                <a:latin typeface="Palanquin Dark"/>
                <a:ea typeface="Palanquin Dark"/>
                <a:cs typeface="Palanquin Dark"/>
                <a:sym typeface="Palanquin Dark"/>
                <a:hlinkClick r:id="rId3"/>
              </a:rPr>
              <a:t>https://ftp.gnu.org/old-gnu/Manuals/gdb/html_node/gdb_28.html</a:t>
            </a:r>
            <a:endParaRPr b="0" i="0" sz="1200" u="none" cap="none" strike="noStrike">
              <a:solidFill>
                <a:srgbClr val="000000"/>
              </a:solidFill>
              <a:latin typeface="Palanquin Dark"/>
              <a:ea typeface="Palanquin Dark"/>
              <a:cs typeface="Palanquin Dark"/>
              <a:sym typeface="Palanquin Dark"/>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Palanquin Dark"/>
              <a:ea typeface="Palanquin Dark"/>
              <a:cs typeface="Palanquin Dark"/>
              <a:sym typeface="Palanquin Dark"/>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4"/>
          <p:cNvSpPr txBox="1"/>
          <p:nvPr>
            <p:ph type="ctrTitle"/>
          </p:nvPr>
        </p:nvSpPr>
        <p:spPr>
          <a:xfrm>
            <a:off x="1607550" y="201350"/>
            <a:ext cx="5928900" cy="970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3600"/>
              <a:t>Breakpoints</a:t>
            </a:r>
            <a:endParaRPr sz="3600"/>
          </a:p>
        </p:txBody>
      </p:sp>
      <p:sp>
        <p:nvSpPr>
          <p:cNvPr id="161" name="Google Shape;161;p14"/>
          <p:cNvSpPr txBox="1"/>
          <p:nvPr/>
        </p:nvSpPr>
        <p:spPr>
          <a:xfrm>
            <a:off x="1137250" y="1248050"/>
            <a:ext cx="7043400" cy="4782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rgbClr val="000000"/>
              </a:buClr>
              <a:buSzPts val="1800"/>
              <a:buFont typeface="Palanquin Dark"/>
              <a:buChar char="●"/>
            </a:pPr>
            <a:r>
              <a:rPr b="0" i="0" lang="en" sz="1800" u="none" cap="none" strike="noStrike">
                <a:solidFill>
                  <a:srgbClr val="000000"/>
                </a:solidFill>
                <a:latin typeface="Palanquin Dark"/>
                <a:ea typeface="Palanquin Dark"/>
                <a:cs typeface="Palanquin Dark"/>
                <a:sym typeface="Palanquin Dark"/>
              </a:rPr>
              <a:t>Break at a function name</a:t>
            </a:r>
            <a:endParaRPr b="0" i="0" sz="1800" u="none" cap="none" strike="noStrike">
              <a:solidFill>
                <a:srgbClr val="000000"/>
              </a:solidFill>
              <a:latin typeface="Palanquin Dark"/>
              <a:ea typeface="Palanquin Dark"/>
              <a:cs typeface="Palanquin Dark"/>
              <a:sym typeface="Palanquin Dark"/>
            </a:endParaRPr>
          </a:p>
        </p:txBody>
      </p:sp>
      <p:pic>
        <p:nvPicPr>
          <p:cNvPr id="162" name="Google Shape;162;p14"/>
          <p:cNvPicPr preferRelativeResize="0"/>
          <p:nvPr/>
        </p:nvPicPr>
        <p:blipFill rotWithShape="1">
          <a:blip r:embed="rId3">
            <a:alphaModFix/>
          </a:blip>
          <a:srcRect b="0" l="0" r="0" t="0"/>
          <a:stretch/>
        </p:blipFill>
        <p:spPr>
          <a:xfrm>
            <a:off x="1607551" y="1726250"/>
            <a:ext cx="4666800" cy="3117550"/>
          </a:xfrm>
          <a:prstGeom prst="rect">
            <a:avLst/>
          </a:prstGeom>
          <a:noFill/>
          <a:ln>
            <a:noFill/>
          </a:ln>
          <a:effectLst>
            <a:outerShdw blurRad="57150" rotWithShape="0" algn="bl" dir="5400000" dist="19050">
              <a:srgbClr val="000000">
                <a:alpha val="49019"/>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5"/>
          <p:cNvSpPr txBox="1"/>
          <p:nvPr>
            <p:ph type="ctrTitle"/>
          </p:nvPr>
        </p:nvSpPr>
        <p:spPr>
          <a:xfrm>
            <a:off x="1607550" y="201350"/>
            <a:ext cx="5928900" cy="970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3600"/>
              <a:t>Breakpoints</a:t>
            </a:r>
            <a:endParaRPr sz="3600"/>
          </a:p>
        </p:txBody>
      </p:sp>
      <p:sp>
        <p:nvSpPr>
          <p:cNvPr id="168" name="Google Shape;168;p15"/>
          <p:cNvSpPr txBox="1"/>
          <p:nvPr/>
        </p:nvSpPr>
        <p:spPr>
          <a:xfrm>
            <a:off x="1137250" y="1248050"/>
            <a:ext cx="7043400" cy="4782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rgbClr val="000000"/>
              </a:buClr>
              <a:buSzPts val="1800"/>
              <a:buFont typeface="Palanquin Dark"/>
              <a:buChar char="●"/>
            </a:pPr>
            <a:r>
              <a:rPr b="0" i="0" lang="en" sz="1800" u="none" cap="none" strike="noStrike">
                <a:solidFill>
                  <a:srgbClr val="000000"/>
                </a:solidFill>
                <a:latin typeface="Palanquin Dark"/>
                <a:ea typeface="Palanquin Dark"/>
                <a:cs typeface="Palanquin Dark"/>
                <a:sym typeface="Palanquin Dark"/>
              </a:rPr>
              <a:t>Break at an address (note the asterisk)</a:t>
            </a:r>
            <a:endParaRPr b="0" i="0" sz="1800" u="none" cap="none" strike="noStrike">
              <a:solidFill>
                <a:srgbClr val="000000"/>
              </a:solidFill>
              <a:latin typeface="Palanquin Dark"/>
              <a:ea typeface="Palanquin Dark"/>
              <a:cs typeface="Palanquin Dark"/>
              <a:sym typeface="Palanquin Dark"/>
            </a:endParaRPr>
          </a:p>
        </p:txBody>
      </p:sp>
      <p:pic>
        <p:nvPicPr>
          <p:cNvPr id="169" name="Google Shape;169;p15"/>
          <p:cNvPicPr preferRelativeResize="0"/>
          <p:nvPr/>
        </p:nvPicPr>
        <p:blipFill rotWithShape="1">
          <a:blip r:embed="rId3">
            <a:alphaModFix/>
          </a:blip>
          <a:srcRect b="0" l="0" r="0" t="0"/>
          <a:stretch/>
        </p:blipFill>
        <p:spPr>
          <a:xfrm>
            <a:off x="1607550" y="1726250"/>
            <a:ext cx="4518357" cy="3112449"/>
          </a:xfrm>
          <a:prstGeom prst="rect">
            <a:avLst/>
          </a:prstGeom>
          <a:noFill/>
          <a:ln>
            <a:noFill/>
          </a:ln>
          <a:effectLst>
            <a:outerShdw blurRad="57150" rotWithShape="0" algn="bl" dir="5400000" dist="19050">
              <a:srgbClr val="000000">
                <a:alpha val="49019"/>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6"/>
          <p:cNvSpPr txBox="1"/>
          <p:nvPr>
            <p:ph type="ctrTitle"/>
          </p:nvPr>
        </p:nvSpPr>
        <p:spPr>
          <a:xfrm>
            <a:off x="1607550" y="201350"/>
            <a:ext cx="5928900" cy="970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3600"/>
              <a:t>Short Form of Commands</a:t>
            </a:r>
            <a:endParaRPr sz="3600"/>
          </a:p>
        </p:txBody>
      </p:sp>
      <p:sp>
        <p:nvSpPr>
          <p:cNvPr id="175" name="Google Shape;175;p16"/>
          <p:cNvSpPr txBox="1"/>
          <p:nvPr/>
        </p:nvSpPr>
        <p:spPr>
          <a:xfrm>
            <a:off x="1137250" y="1558200"/>
            <a:ext cx="7043400" cy="478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Palanquin Dark"/>
                <a:ea typeface="Palanquin Dark"/>
                <a:cs typeface="Palanquin Dark"/>
                <a:sym typeface="Palanquin Dark"/>
              </a:rPr>
              <a:t>Most commands in gdb will also have a short form, so instead of typing </a:t>
            </a:r>
            <a:r>
              <a:rPr b="0" i="1" lang="en" sz="1800" u="none" cap="none" strike="noStrike">
                <a:solidFill>
                  <a:srgbClr val="000000"/>
                </a:solidFill>
                <a:latin typeface="Courier New"/>
                <a:ea typeface="Courier New"/>
                <a:cs typeface="Courier New"/>
                <a:sym typeface="Courier New"/>
              </a:rPr>
              <a:t>break</a:t>
            </a:r>
            <a:r>
              <a:rPr b="0" i="0" lang="en" sz="1800" u="none" cap="none" strike="noStrike">
                <a:solidFill>
                  <a:srgbClr val="000000"/>
                </a:solidFill>
                <a:latin typeface="Courier New"/>
                <a:ea typeface="Courier New"/>
                <a:cs typeface="Courier New"/>
                <a:sym typeface="Courier New"/>
              </a:rPr>
              <a:t>,</a:t>
            </a:r>
            <a:r>
              <a:rPr b="0" i="0" lang="en" sz="1800" u="none" cap="none" strike="noStrike">
                <a:solidFill>
                  <a:srgbClr val="000000"/>
                </a:solidFill>
                <a:latin typeface="Palanquin Dark"/>
                <a:ea typeface="Palanquin Dark"/>
                <a:cs typeface="Palanquin Dark"/>
                <a:sym typeface="Palanquin Dark"/>
              </a:rPr>
              <a:t> you can just type </a:t>
            </a:r>
            <a:r>
              <a:rPr b="0" i="1" lang="en" sz="1800" u="none" cap="none" strike="noStrike">
                <a:solidFill>
                  <a:srgbClr val="000000"/>
                </a:solidFill>
                <a:latin typeface="Courier New"/>
                <a:ea typeface="Courier New"/>
                <a:cs typeface="Courier New"/>
                <a:sym typeface="Courier New"/>
              </a:rPr>
              <a:t>b</a:t>
            </a:r>
            <a:r>
              <a:rPr b="0" i="0" lang="en" sz="1800" u="none" cap="none" strike="noStrike">
                <a:solidFill>
                  <a:srgbClr val="000000"/>
                </a:solidFill>
                <a:latin typeface="Palanquin Dark"/>
                <a:ea typeface="Palanquin Dark"/>
                <a:cs typeface="Palanquin Dark"/>
                <a:sym typeface="Palanquin Dark"/>
              </a:rPr>
              <a:t>.</a:t>
            </a:r>
            <a:endParaRPr b="0" i="0" sz="1800" u="none" cap="none" strike="noStrike">
              <a:solidFill>
                <a:srgbClr val="000000"/>
              </a:solidFill>
              <a:latin typeface="Palanquin Dark"/>
              <a:ea typeface="Palanquin Dark"/>
              <a:cs typeface="Palanquin Dark"/>
              <a:sym typeface="Palanquin Dark"/>
            </a:endParaRPr>
          </a:p>
        </p:txBody>
      </p:sp>
      <p:pic>
        <p:nvPicPr>
          <p:cNvPr id="176" name="Google Shape;176;p16"/>
          <p:cNvPicPr preferRelativeResize="0"/>
          <p:nvPr/>
        </p:nvPicPr>
        <p:blipFill rotWithShape="1">
          <a:blip r:embed="rId3">
            <a:alphaModFix/>
          </a:blip>
          <a:srcRect b="0" l="0" r="0" t="0"/>
          <a:stretch/>
        </p:blipFill>
        <p:spPr>
          <a:xfrm>
            <a:off x="2906350" y="2692825"/>
            <a:ext cx="3505200" cy="590550"/>
          </a:xfrm>
          <a:prstGeom prst="rect">
            <a:avLst/>
          </a:prstGeom>
          <a:noFill/>
          <a:ln>
            <a:noFill/>
          </a:ln>
          <a:effectLst>
            <a:outerShdw blurRad="57150" rotWithShape="0" algn="bl" dir="5400000" dist="19050">
              <a:srgbClr val="000000"/>
            </a:outerShdw>
          </a:effectLst>
        </p:spPr>
      </p:pic>
      <p:sp>
        <p:nvSpPr>
          <p:cNvPr id="177" name="Google Shape;177;p16"/>
          <p:cNvSpPr txBox="1"/>
          <p:nvPr/>
        </p:nvSpPr>
        <p:spPr>
          <a:xfrm>
            <a:off x="1137250" y="3574675"/>
            <a:ext cx="7043400" cy="478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Palanquin Dark"/>
                <a:ea typeface="Palanquin Dark"/>
                <a:cs typeface="Palanquin Dark"/>
                <a:sym typeface="Palanquin Dark"/>
              </a:rPr>
              <a:t>The previous two commands, </a:t>
            </a:r>
            <a:r>
              <a:rPr b="0" i="0" lang="en" sz="1800" u="none" cap="none" strike="noStrike">
                <a:solidFill>
                  <a:srgbClr val="000000"/>
                </a:solidFill>
                <a:latin typeface="Courier New"/>
                <a:ea typeface="Courier New"/>
                <a:cs typeface="Courier New"/>
                <a:sym typeface="Courier New"/>
              </a:rPr>
              <a:t>run</a:t>
            </a:r>
            <a:r>
              <a:rPr b="0" i="0" lang="en" sz="1800" u="none" cap="none" strike="noStrike">
                <a:solidFill>
                  <a:srgbClr val="000000"/>
                </a:solidFill>
                <a:latin typeface="Palanquin Dark"/>
                <a:ea typeface="Palanquin Dark"/>
                <a:cs typeface="Palanquin Dark"/>
                <a:sym typeface="Palanquin Dark"/>
              </a:rPr>
              <a:t> and </a:t>
            </a:r>
            <a:r>
              <a:rPr b="0" i="0" lang="en" sz="1800" u="none" cap="none" strike="noStrike">
                <a:solidFill>
                  <a:srgbClr val="000000"/>
                </a:solidFill>
                <a:latin typeface="Courier New"/>
                <a:ea typeface="Courier New"/>
                <a:cs typeface="Courier New"/>
                <a:sym typeface="Courier New"/>
              </a:rPr>
              <a:t>quit</a:t>
            </a:r>
            <a:r>
              <a:rPr b="0" i="0" lang="en" sz="1800" u="none" cap="none" strike="noStrike">
                <a:solidFill>
                  <a:srgbClr val="000000"/>
                </a:solidFill>
                <a:latin typeface="Palanquin Dark"/>
                <a:ea typeface="Palanquin Dark"/>
                <a:cs typeface="Palanquin Dark"/>
                <a:sym typeface="Palanquin Dark"/>
              </a:rPr>
              <a:t>, can also be replaced by single characters.</a:t>
            </a:r>
            <a:endParaRPr b="0" i="0" sz="1800" u="none" cap="none" strike="noStrike">
              <a:solidFill>
                <a:srgbClr val="000000"/>
              </a:solidFill>
              <a:latin typeface="Palanquin Dark"/>
              <a:ea typeface="Palanquin Dark"/>
              <a:cs typeface="Palanquin Dark"/>
              <a:sym typeface="Palanquin Dark"/>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7"/>
          <p:cNvSpPr txBox="1"/>
          <p:nvPr>
            <p:ph type="ctrTitle"/>
          </p:nvPr>
        </p:nvSpPr>
        <p:spPr>
          <a:xfrm>
            <a:off x="1607550" y="201350"/>
            <a:ext cx="5928900" cy="970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3600"/>
              <a:t>Disassemble</a:t>
            </a:r>
            <a:endParaRPr sz="3600"/>
          </a:p>
        </p:txBody>
      </p:sp>
      <p:sp>
        <p:nvSpPr>
          <p:cNvPr id="183" name="Google Shape;183;p17"/>
          <p:cNvSpPr txBox="1"/>
          <p:nvPr/>
        </p:nvSpPr>
        <p:spPr>
          <a:xfrm>
            <a:off x="1137250" y="1248050"/>
            <a:ext cx="7043400" cy="47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Palanquin Dark"/>
                <a:ea typeface="Palanquin Dark"/>
                <a:cs typeface="Palanquin Dark"/>
                <a:sym typeface="Palanquin Dark"/>
              </a:rPr>
              <a:t>Produces the disassembled output of the specified function (like objdump)</a:t>
            </a:r>
            <a:endParaRPr b="0" i="0" sz="1800" u="none" cap="none" strike="noStrike">
              <a:solidFill>
                <a:srgbClr val="000000"/>
              </a:solidFill>
              <a:latin typeface="Palanquin Dark"/>
              <a:ea typeface="Palanquin Dark"/>
              <a:cs typeface="Palanquin Dark"/>
              <a:sym typeface="Palanquin Dark"/>
            </a:endParaRPr>
          </a:p>
        </p:txBody>
      </p:sp>
      <p:sp>
        <p:nvSpPr>
          <p:cNvPr id="184" name="Google Shape;184;p17"/>
          <p:cNvSpPr txBox="1"/>
          <p:nvPr/>
        </p:nvSpPr>
        <p:spPr>
          <a:xfrm>
            <a:off x="858700" y="1983375"/>
            <a:ext cx="7600500" cy="724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500"/>
              <a:buFont typeface="Arial"/>
              <a:buNone/>
            </a:pPr>
            <a:r>
              <a:rPr b="0" i="0" lang="en" sz="3500" u="none" cap="none" strike="noStrike">
                <a:solidFill>
                  <a:srgbClr val="000000"/>
                </a:solidFill>
                <a:latin typeface="Courier New"/>
                <a:ea typeface="Courier New"/>
                <a:cs typeface="Courier New"/>
                <a:sym typeface="Courier New"/>
              </a:rPr>
              <a:t>disassemble &lt;function_name&gt;</a:t>
            </a:r>
            <a:endParaRPr b="0" i="0" sz="3500" u="none" cap="none" strike="noStrike">
              <a:solidFill>
                <a:srgbClr val="000000"/>
              </a:solidFill>
              <a:latin typeface="Courier New"/>
              <a:ea typeface="Courier New"/>
              <a:cs typeface="Courier New"/>
              <a:sym typeface="Courier New"/>
            </a:endParaRPr>
          </a:p>
        </p:txBody>
      </p:sp>
      <p:sp>
        <p:nvSpPr>
          <p:cNvPr id="185" name="Google Shape;185;p17"/>
          <p:cNvSpPr txBox="1"/>
          <p:nvPr/>
        </p:nvSpPr>
        <p:spPr>
          <a:xfrm>
            <a:off x="1137250" y="2809225"/>
            <a:ext cx="7043400" cy="47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Palanquin Dark"/>
                <a:ea typeface="Palanquin Dark"/>
                <a:cs typeface="Palanquin Dark"/>
                <a:sym typeface="Palanquin Dark"/>
              </a:rPr>
              <a:t>The argument for disassemble is usually a function name. You can also run disassemble without an argument, but only when in a function. You can also give memory ranges.</a:t>
            </a:r>
            <a:endParaRPr b="0" i="0" sz="1800" u="none" cap="none" strike="noStrike">
              <a:solidFill>
                <a:srgbClr val="000000"/>
              </a:solidFill>
              <a:latin typeface="Palanquin Dark"/>
              <a:ea typeface="Palanquin Dark"/>
              <a:cs typeface="Palanquin Dark"/>
              <a:sym typeface="Palanquin Dark"/>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Palanquin Dark"/>
              <a:ea typeface="Palanquin Dark"/>
              <a:cs typeface="Palanquin Dark"/>
              <a:sym typeface="Palanquin Dark"/>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Palanquin Dark"/>
                <a:ea typeface="Palanquin Dark"/>
                <a:cs typeface="Palanquin Dark"/>
                <a:sym typeface="Palanquin Dark"/>
              </a:rPr>
              <a:t>Side tip: can also be called by </a:t>
            </a:r>
            <a:r>
              <a:rPr b="1" i="0" lang="en" sz="1200" u="none" cap="none" strike="noStrike">
                <a:solidFill>
                  <a:srgbClr val="262626"/>
                </a:solidFill>
                <a:latin typeface="Courier New"/>
                <a:ea typeface="Courier New"/>
                <a:cs typeface="Courier New"/>
                <a:sym typeface="Courier New"/>
              </a:rPr>
              <a:t>disas</a:t>
            </a:r>
            <a:endParaRPr b="0" i="0" sz="1800" u="none" cap="none" strike="noStrike">
              <a:solidFill>
                <a:srgbClr val="000000"/>
              </a:solidFill>
              <a:latin typeface="Palanquin Dark"/>
              <a:ea typeface="Palanquin Dark"/>
              <a:cs typeface="Palanquin Dark"/>
              <a:sym typeface="Palanquin Dark"/>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Palanquin Dark"/>
                <a:ea typeface="Palanquin Dark"/>
                <a:cs typeface="Palanquin Dark"/>
                <a:sym typeface="Palanquin Dark"/>
              </a:rPr>
              <a:t>Side side tip: </a:t>
            </a:r>
            <a:r>
              <a:rPr b="1" i="0" lang="en" sz="1200" u="none" cap="none" strike="noStrike">
                <a:solidFill>
                  <a:srgbClr val="262626"/>
                </a:solidFill>
                <a:latin typeface="Courier New"/>
                <a:ea typeface="Courier New"/>
                <a:cs typeface="Courier New"/>
                <a:sym typeface="Courier New"/>
              </a:rPr>
              <a:t>set disassemble-next-line on</a:t>
            </a:r>
            <a:endParaRPr b="0" i="0" sz="1800" u="none" cap="none" strike="noStrike">
              <a:solidFill>
                <a:srgbClr val="000000"/>
              </a:solidFill>
              <a:latin typeface="Palanquin Dark"/>
              <a:ea typeface="Palanquin Dark"/>
              <a:cs typeface="Palanquin Dark"/>
              <a:sym typeface="Palanquin Dark"/>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Palanquin Dark"/>
              <a:ea typeface="Palanquin Dark"/>
              <a:cs typeface="Palanquin Dark"/>
              <a:sym typeface="Palanquin Dark"/>
            </a:endParaRPr>
          </a:p>
        </p:txBody>
      </p:sp>
      <p:sp>
        <p:nvSpPr>
          <p:cNvPr id="186" name="Google Shape;186;p17"/>
          <p:cNvSpPr txBox="1"/>
          <p:nvPr/>
        </p:nvSpPr>
        <p:spPr>
          <a:xfrm>
            <a:off x="1137250" y="4548950"/>
            <a:ext cx="7043400" cy="47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Palanquin Dark"/>
                <a:ea typeface="Palanquin Dark"/>
                <a:cs typeface="Palanquin Dark"/>
                <a:sym typeface="Palanquin Dark"/>
              </a:rPr>
              <a:t>Documentation: </a:t>
            </a:r>
            <a:r>
              <a:rPr b="0" i="0" lang="en" sz="1200" u="sng" cap="none" strike="noStrike">
                <a:solidFill>
                  <a:schemeClr val="hlink"/>
                </a:solidFill>
                <a:latin typeface="Palanquin Dark"/>
                <a:ea typeface="Palanquin Dark"/>
                <a:cs typeface="Palanquin Dark"/>
                <a:sym typeface="Palanquin Dark"/>
                <a:hlinkClick r:id="rId3"/>
              </a:rPr>
              <a:t>https://sourceware.org/gdb/current/onlinedocs/gdb/Machine-Code.html</a:t>
            </a:r>
            <a:endParaRPr b="0" i="0" sz="1200" u="none" cap="none" strike="noStrike">
              <a:solidFill>
                <a:srgbClr val="000000"/>
              </a:solidFill>
              <a:latin typeface="Palanquin Dark"/>
              <a:ea typeface="Palanquin Dark"/>
              <a:cs typeface="Palanquin Dark"/>
              <a:sym typeface="Palanquin Dark"/>
            </a:endParaRPr>
          </a:p>
          <a:p>
            <a:pPr indent="0" lvl="0" marL="0" marR="0" rtl="0" algn="ctr">
              <a:lnSpc>
                <a:spcPct val="100000"/>
              </a:lnSpc>
              <a:spcBef>
                <a:spcPts val="0"/>
              </a:spcBef>
              <a:spcAft>
                <a:spcPts val="0"/>
              </a:spcAft>
              <a:buClr>
                <a:srgbClr val="000000"/>
              </a:buClr>
              <a:buSzPts val="1200"/>
              <a:buFont typeface="Arial"/>
              <a:buNone/>
            </a:pPr>
            <a:r>
              <a:rPr b="0" i="0" lang="en" sz="1200" u="sng" cap="none" strike="noStrike">
                <a:solidFill>
                  <a:schemeClr val="hlink"/>
                </a:solidFill>
                <a:latin typeface="Palanquin Dark"/>
                <a:ea typeface="Palanquin Dark"/>
                <a:cs typeface="Palanquin Dark"/>
                <a:sym typeface="Palanquin Dark"/>
                <a:hlinkClick r:id="rId4"/>
              </a:rPr>
              <a:t>https://visualgdb.com/gdbreference/commands/disassemble</a:t>
            </a:r>
            <a:endParaRPr b="0" i="0" sz="1200" u="none" cap="none" strike="noStrike">
              <a:solidFill>
                <a:srgbClr val="000000"/>
              </a:solidFill>
              <a:latin typeface="Palanquin Dark"/>
              <a:ea typeface="Palanquin Dark"/>
              <a:cs typeface="Palanquin Dark"/>
              <a:sym typeface="Palanquin Dark"/>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Palanquin Dark"/>
              <a:ea typeface="Palanquin Dark"/>
              <a:cs typeface="Palanquin Dark"/>
              <a:sym typeface="Palanquin Dark"/>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Palanquin Dark"/>
              <a:ea typeface="Palanquin Dark"/>
              <a:cs typeface="Palanquin Dark"/>
              <a:sym typeface="Palanquin Dark"/>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8"/>
          <p:cNvSpPr txBox="1"/>
          <p:nvPr>
            <p:ph type="ctrTitle"/>
          </p:nvPr>
        </p:nvSpPr>
        <p:spPr>
          <a:xfrm>
            <a:off x="1607550" y="757025"/>
            <a:ext cx="5928900" cy="970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4800"/>
              <a:t>⚠ Bomb Lab Tip ⚠ </a:t>
            </a:r>
            <a:endParaRPr sz="4800"/>
          </a:p>
        </p:txBody>
      </p:sp>
      <p:sp>
        <p:nvSpPr>
          <p:cNvPr id="192" name="Google Shape;192;p18"/>
          <p:cNvSpPr txBox="1"/>
          <p:nvPr/>
        </p:nvSpPr>
        <p:spPr>
          <a:xfrm>
            <a:off x="1240625" y="2165675"/>
            <a:ext cx="6513300" cy="1059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Palanquin Dark"/>
                <a:ea typeface="Palanquin Dark"/>
                <a:cs typeface="Palanquin Dark"/>
                <a:sym typeface="Palanquin Dark"/>
              </a:rPr>
              <a:t>Right when you start gdb, always type:</a:t>
            </a:r>
            <a:endParaRPr b="0" i="0" sz="1800" u="none" cap="none" strike="noStrike">
              <a:solidFill>
                <a:srgbClr val="000000"/>
              </a:solidFill>
              <a:latin typeface="Palanquin Dark"/>
              <a:ea typeface="Palanquin Dark"/>
              <a:cs typeface="Palanquin Dark"/>
              <a:sym typeface="Palanquin Dark"/>
            </a:endParaRPr>
          </a:p>
          <a:p>
            <a:pPr indent="457200" lvl="0" marL="0" marR="0" rtl="0" algn="l">
              <a:lnSpc>
                <a:spcPct val="100000"/>
              </a:lnSpc>
              <a:spcBef>
                <a:spcPts val="0"/>
              </a:spcBef>
              <a:spcAft>
                <a:spcPts val="0"/>
              </a:spcAft>
              <a:buClr>
                <a:srgbClr val="000000"/>
              </a:buClr>
              <a:buSzPts val="1800"/>
              <a:buFont typeface="Arial"/>
              <a:buNone/>
            </a:pPr>
            <a:r>
              <a:rPr b="0" i="1" lang="en" sz="1800" u="none" cap="none" strike="noStrike">
                <a:solidFill>
                  <a:srgbClr val="000000"/>
                </a:solidFill>
                <a:latin typeface="Courier New"/>
                <a:ea typeface="Courier New"/>
                <a:cs typeface="Courier New"/>
                <a:sym typeface="Courier New"/>
              </a:rPr>
              <a:t>b explode_bomb</a:t>
            </a:r>
            <a:r>
              <a:rPr b="0" i="0" lang="en" sz="1800" u="none" cap="none" strike="noStrike">
                <a:solidFill>
                  <a:srgbClr val="000000"/>
                </a:solidFill>
                <a:latin typeface="Palanquin Dark"/>
                <a:ea typeface="Palanquin Dark"/>
                <a:cs typeface="Palanquin Dark"/>
                <a:sym typeface="Palanquin Dark"/>
              </a:rPr>
              <a:t> </a:t>
            </a:r>
            <a:endParaRPr b="0" i="0" sz="1800" u="none" cap="none" strike="noStrike">
              <a:solidFill>
                <a:srgbClr val="000000"/>
              </a:solidFill>
              <a:latin typeface="Palanquin Dark"/>
              <a:ea typeface="Palanquin Dark"/>
              <a:cs typeface="Palanquin Dark"/>
              <a:sym typeface="Palanquin Dark"/>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Palanquin Dark"/>
                <a:ea typeface="Palanquin Dark"/>
                <a:cs typeface="Palanquin Dark"/>
                <a:sym typeface="Palanquin Dark"/>
              </a:rPr>
              <a:t>before doing anything else.</a:t>
            </a:r>
            <a:endParaRPr b="0" i="0" sz="1800" u="none" cap="none" strike="noStrike">
              <a:solidFill>
                <a:srgbClr val="000000"/>
              </a:solidFill>
              <a:latin typeface="Palanquin Dark"/>
              <a:ea typeface="Palanquin Dark"/>
              <a:cs typeface="Palanquin Dark"/>
              <a:sym typeface="Palanquin Dark"/>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Palanquin Dark"/>
              <a:ea typeface="Palanquin Dark"/>
              <a:cs typeface="Palanquin Dark"/>
              <a:sym typeface="Palanquin Dark"/>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Palanquin Dark"/>
                <a:ea typeface="Palanquin Dark"/>
                <a:cs typeface="Palanquin Dark"/>
                <a:sym typeface="Palanquin Dark"/>
              </a:rPr>
              <a:t>That way, when you run the bomb program, you will stop execution if you reach the </a:t>
            </a:r>
            <a:r>
              <a:rPr b="0" i="1" lang="en" sz="1800" u="none" cap="none" strike="noStrike">
                <a:solidFill>
                  <a:srgbClr val="000000"/>
                </a:solidFill>
                <a:latin typeface="Courier New"/>
                <a:ea typeface="Courier New"/>
                <a:cs typeface="Courier New"/>
                <a:sym typeface="Courier New"/>
              </a:rPr>
              <a:t>explode_bomb </a:t>
            </a:r>
            <a:r>
              <a:rPr b="0" i="0" lang="en" sz="1800" u="none" cap="none" strike="noStrike">
                <a:solidFill>
                  <a:srgbClr val="000000"/>
                </a:solidFill>
                <a:latin typeface="Palanquin Dark"/>
                <a:ea typeface="Palanquin Dark"/>
                <a:cs typeface="Palanquin Dark"/>
                <a:sym typeface="Palanquin Dark"/>
              </a:rPr>
              <a:t>function.</a:t>
            </a:r>
            <a:endParaRPr b="0" i="0" sz="1800" u="none" cap="none" strike="noStrike">
              <a:solidFill>
                <a:srgbClr val="000000"/>
              </a:solidFill>
              <a:latin typeface="Palanquin Dark"/>
              <a:ea typeface="Palanquin Dark"/>
              <a:cs typeface="Palanquin Dark"/>
              <a:sym typeface="Palanquin Dark"/>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9"/>
          <p:cNvSpPr txBox="1"/>
          <p:nvPr>
            <p:ph type="ctrTitle"/>
          </p:nvPr>
        </p:nvSpPr>
        <p:spPr>
          <a:xfrm>
            <a:off x="1240625" y="757025"/>
            <a:ext cx="6295800" cy="970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4800"/>
              <a:t>⚠ Bomb Lab Tip 2</a:t>
            </a:r>
            <a:r>
              <a:rPr lang="en"/>
              <a:t> </a:t>
            </a:r>
            <a:r>
              <a:rPr lang="en" sz="4800"/>
              <a:t>⚠</a:t>
            </a:r>
            <a:endParaRPr/>
          </a:p>
        </p:txBody>
      </p:sp>
      <p:sp>
        <p:nvSpPr>
          <p:cNvPr id="198" name="Google Shape;198;p19"/>
          <p:cNvSpPr txBox="1"/>
          <p:nvPr/>
        </p:nvSpPr>
        <p:spPr>
          <a:xfrm>
            <a:off x="1240625" y="2165675"/>
            <a:ext cx="6513300" cy="1059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Palanquin Dark"/>
                <a:ea typeface="Palanquin Dark"/>
                <a:cs typeface="Palanquin Dark"/>
                <a:sym typeface="Palanquin Dark"/>
              </a:rPr>
              <a:t>You can find the function names and signatures (i.e. argument types and return types) of a program by typing:</a:t>
            </a:r>
            <a:endParaRPr b="0" i="0" sz="1800" u="none" cap="none" strike="noStrike">
              <a:solidFill>
                <a:srgbClr val="000000"/>
              </a:solidFill>
              <a:latin typeface="Palanquin Dark"/>
              <a:ea typeface="Palanquin Dark"/>
              <a:cs typeface="Palanquin Dark"/>
              <a:sym typeface="Palanquin Dark"/>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Palanquin Dark"/>
              <a:ea typeface="Palanquin Dark"/>
              <a:cs typeface="Palanquin Dark"/>
              <a:sym typeface="Palanquin Dark"/>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ourier New"/>
                <a:ea typeface="Courier New"/>
                <a:cs typeface="Courier New"/>
                <a:sym typeface="Courier New"/>
              </a:rPr>
              <a:t>info functions</a:t>
            </a:r>
            <a:endParaRPr b="0" i="0" sz="1800" u="none" cap="none" strike="noStrike">
              <a:solidFill>
                <a:srgbClr val="000000"/>
              </a:solidFill>
              <a:latin typeface="Courier New"/>
              <a:ea typeface="Courier New"/>
              <a:cs typeface="Courier New"/>
              <a:sym typeface="Courier New"/>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0"/>
          <p:cNvSpPr txBox="1"/>
          <p:nvPr>
            <p:ph type="ctrTitle"/>
          </p:nvPr>
        </p:nvSpPr>
        <p:spPr>
          <a:xfrm>
            <a:off x="1607550" y="201350"/>
            <a:ext cx="5928900" cy="970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3600"/>
              <a:t>Continue</a:t>
            </a:r>
            <a:endParaRPr sz="3600"/>
          </a:p>
        </p:txBody>
      </p:sp>
      <p:sp>
        <p:nvSpPr>
          <p:cNvPr id="204" name="Google Shape;204;p20"/>
          <p:cNvSpPr txBox="1"/>
          <p:nvPr/>
        </p:nvSpPr>
        <p:spPr>
          <a:xfrm>
            <a:off x="1050300" y="1254550"/>
            <a:ext cx="7043400" cy="47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Palanquin Dark"/>
                <a:ea typeface="Palanquin Dark"/>
                <a:cs typeface="Palanquin Dark"/>
                <a:sym typeface="Palanquin Dark"/>
              </a:rPr>
              <a:t>Keep running to the next breakpoint</a:t>
            </a:r>
            <a:endParaRPr b="0" i="0" sz="1800" u="none" cap="none" strike="noStrike">
              <a:solidFill>
                <a:srgbClr val="000000"/>
              </a:solidFill>
              <a:latin typeface="Palanquin Dark"/>
              <a:ea typeface="Palanquin Dark"/>
              <a:cs typeface="Palanquin Dark"/>
              <a:sym typeface="Palanquin Dark"/>
            </a:endParaRPr>
          </a:p>
        </p:txBody>
      </p:sp>
      <p:sp>
        <p:nvSpPr>
          <p:cNvPr id="205" name="Google Shape;205;p20"/>
          <p:cNvSpPr txBox="1"/>
          <p:nvPr/>
        </p:nvSpPr>
        <p:spPr>
          <a:xfrm>
            <a:off x="2451600" y="1978250"/>
            <a:ext cx="4240800" cy="928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800"/>
              <a:buFont typeface="Arial"/>
              <a:buNone/>
            </a:pPr>
            <a:r>
              <a:rPr b="0" i="0" lang="en" sz="4800" u="none" cap="none" strike="noStrike">
                <a:solidFill>
                  <a:srgbClr val="000000"/>
                </a:solidFill>
                <a:latin typeface="Courier New"/>
                <a:ea typeface="Courier New"/>
                <a:cs typeface="Courier New"/>
                <a:sym typeface="Courier New"/>
              </a:rPr>
              <a:t>continue</a:t>
            </a:r>
            <a:endParaRPr b="0" i="0" sz="4800" u="none" cap="none" strike="noStrike">
              <a:solidFill>
                <a:srgbClr val="000000"/>
              </a:solidFill>
              <a:latin typeface="Courier New"/>
              <a:ea typeface="Courier New"/>
              <a:cs typeface="Courier New"/>
              <a:sym typeface="Courier New"/>
            </a:endParaRPr>
          </a:p>
        </p:txBody>
      </p:sp>
      <p:sp>
        <p:nvSpPr>
          <p:cNvPr id="206" name="Google Shape;206;p20"/>
          <p:cNvSpPr txBox="1"/>
          <p:nvPr/>
        </p:nvSpPr>
        <p:spPr>
          <a:xfrm>
            <a:off x="1694500" y="3488050"/>
            <a:ext cx="5928900" cy="75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Palanquin Dark"/>
                <a:ea typeface="Palanquin Dark"/>
                <a:cs typeface="Palanquin Dark"/>
                <a:sym typeface="Palanquin Dark"/>
              </a:rPr>
              <a:t>When at a breakpoint, continues running the program until another breakpoint, or the end</a:t>
            </a:r>
            <a:endParaRPr b="0" i="0" sz="1800" u="none" cap="none" strike="noStrike">
              <a:solidFill>
                <a:schemeClr val="dk1"/>
              </a:solidFill>
              <a:latin typeface="Palanquin Dark"/>
              <a:ea typeface="Palanquin Dark"/>
              <a:cs typeface="Palanquin Dark"/>
              <a:sym typeface="Palanquin Dark"/>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1"/>
          <p:cNvSpPr txBox="1"/>
          <p:nvPr>
            <p:ph type="ctrTitle"/>
          </p:nvPr>
        </p:nvSpPr>
        <p:spPr>
          <a:xfrm>
            <a:off x="1607550" y="201350"/>
            <a:ext cx="5928900" cy="970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3600"/>
              <a:t>Continue</a:t>
            </a:r>
            <a:endParaRPr sz="3600"/>
          </a:p>
        </p:txBody>
      </p:sp>
      <p:sp>
        <p:nvSpPr>
          <p:cNvPr id="212" name="Google Shape;212;p21"/>
          <p:cNvSpPr txBox="1"/>
          <p:nvPr/>
        </p:nvSpPr>
        <p:spPr>
          <a:xfrm>
            <a:off x="946675" y="1567100"/>
            <a:ext cx="7043400" cy="4782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rgbClr val="000000"/>
              </a:buClr>
              <a:buSzPts val="1800"/>
              <a:buFont typeface="Palanquin Dark"/>
              <a:buChar char="●"/>
            </a:pPr>
            <a:r>
              <a:rPr b="0" i="0" lang="en" sz="1800" u="none" cap="none" strike="noStrike">
                <a:solidFill>
                  <a:srgbClr val="000000"/>
                </a:solidFill>
                <a:latin typeface="Palanquin Dark"/>
                <a:ea typeface="Palanquin Dark"/>
                <a:cs typeface="Palanquin Dark"/>
                <a:sym typeface="Palanquin Dark"/>
              </a:rPr>
              <a:t>Until another breakpoint</a:t>
            </a:r>
            <a:endParaRPr b="0" i="0" sz="1800" u="none" cap="none" strike="noStrike">
              <a:solidFill>
                <a:srgbClr val="000000"/>
              </a:solidFill>
              <a:latin typeface="Palanquin Dark"/>
              <a:ea typeface="Palanquin Dark"/>
              <a:cs typeface="Palanquin Dark"/>
              <a:sym typeface="Palanquin Dark"/>
            </a:endParaRPr>
          </a:p>
        </p:txBody>
      </p:sp>
      <p:pic>
        <p:nvPicPr>
          <p:cNvPr id="213" name="Google Shape;213;p21"/>
          <p:cNvPicPr preferRelativeResize="0"/>
          <p:nvPr/>
        </p:nvPicPr>
        <p:blipFill rotWithShape="1">
          <a:blip r:embed="rId3">
            <a:alphaModFix/>
          </a:blip>
          <a:srcRect b="0" l="0" r="0" t="0"/>
          <a:stretch/>
        </p:blipFill>
        <p:spPr>
          <a:xfrm>
            <a:off x="1678875" y="2205450"/>
            <a:ext cx="5786234" cy="1450500"/>
          </a:xfrm>
          <a:prstGeom prst="rect">
            <a:avLst/>
          </a:prstGeom>
          <a:noFill/>
          <a:ln>
            <a:noFill/>
          </a:ln>
          <a:effectLst>
            <a:outerShdw blurRad="57150" rotWithShape="0" algn="bl" dir="5400000" dist="19050">
              <a:srgbClr val="000000">
                <a:alpha val="49019"/>
              </a:srgbClr>
            </a:outerShdw>
          </a:effectLst>
        </p:spPr>
      </p:pic>
      <p:sp>
        <p:nvSpPr>
          <p:cNvPr id="214" name="Google Shape;214;p21"/>
          <p:cNvSpPr txBox="1"/>
          <p:nvPr/>
        </p:nvSpPr>
        <p:spPr>
          <a:xfrm>
            <a:off x="2047350" y="4154375"/>
            <a:ext cx="5049300" cy="405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ourier New"/>
                <a:ea typeface="Courier New"/>
                <a:cs typeface="Courier New"/>
                <a:sym typeface="Courier New"/>
              </a:rPr>
              <a:t>Continue</a:t>
            </a:r>
            <a:r>
              <a:rPr b="0" i="0" lang="en" sz="1800" u="none" cap="none" strike="noStrike">
                <a:solidFill>
                  <a:srgbClr val="000000"/>
                </a:solidFill>
                <a:latin typeface="Palanquin Dark"/>
                <a:ea typeface="Palanquin Dark"/>
                <a:cs typeface="Palanquin Dark"/>
                <a:sym typeface="Palanquin Dark"/>
              </a:rPr>
              <a:t> is abbreviated to </a:t>
            </a:r>
            <a:r>
              <a:rPr b="0" i="0" lang="en" sz="1800" u="none" cap="none" strike="noStrike">
                <a:solidFill>
                  <a:srgbClr val="000000"/>
                </a:solidFill>
                <a:latin typeface="Courier New"/>
                <a:ea typeface="Courier New"/>
                <a:cs typeface="Courier New"/>
                <a:sym typeface="Courier New"/>
              </a:rPr>
              <a:t>c</a:t>
            </a:r>
            <a:endParaRPr b="0" i="0" sz="1800" u="none" cap="none" strike="noStrike">
              <a:solidFill>
                <a:srgbClr val="000000"/>
              </a:solidFill>
              <a:latin typeface="Courier New"/>
              <a:ea typeface="Courier New"/>
              <a:cs typeface="Courier New"/>
              <a:sym typeface="Courier New"/>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2"/>
          <p:cNvSpPr txBox="1"/>
          <p:nvPr>
            <p:ph type="ctrTitle"/>
          </p:nvPr>
        </p:nvSpPr>
        <p:spPr>
          <a:xfrm>
            <a:off x="1607550" y="201350"/>
            <a:ext cx="5928900" cy="970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3600"/>
              <a:t>Continue</a:t>
            </a:r>
            <a:endParaRPr sz="3600"/>
          </a:p>
        </p:txBody>
      </p:sp>
      <p:sp>
        <p:nvSpPr>
          <p:cNvPr id="220" name="Google Shape;220;p22"/>
          <p:cNvSpPr txBox="1"/>
          <p:nvPr/>
        </p:nvSpPr>
        <p:spPr>
          <a:xfrm>
            <a:off x="946675" y="1567100"/>
            <a:ext cx="7043400" cy="4782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rgbClr val="000000"/>
              </a:buClr>
              <a:buSzPts val="1800"/>
              <a:buFont typeface="Palanquin Dark"/>
              <a:buChar char="●"/>
            </a:pPr>
            <a:r>
              <a:rPr b="0" i="0" lang="en" sz="1800" u="none" cap="none" strike="noStrike">
                <a:solidFill>
                  <a:srgbClr val="000000"/>
                </a:solidFill>
                <a:latin typeface="Palanquin Dark"/>
                <a:ea typeface="Palanquin Dark"/>
                <a:cs typeface="Palanquin Dark"/>
                <a:sym typeface="Palanquin Dark"/>
              </a:rPr>
              <a:t>Until the end :(</a:t>
            </a:r>
            <a:endParaRPr b="0" i="0" sz="1800" u="none" cap="none" strike="noStrike">
              <a:solidFill>
                <a:srgbClr val="000000"/>
              </a:solidFill>
              <a:latin typeface="Palanquin Dark"/>
              <a:ea typeface="Palanquin Dark"/>
              <a:cs typeface="Palanquin Dark"/>
              <a:sym typeface="Palanquin Dark"/>
            </a:endParaRPr>
          </a:p>
        </p:txBody>
      </p:sp>
      <p:pic>
        <p:nvPicPr>
          <p:cNvPr id="221" name="Google Shape;221;p22"/>
          <p:cNvPicPr preferRelativeResize="0"/>
          <p:nvPr/>
        </p:nvPicPr>
        <p:blipFill rotWithShape="1">
          <a:blip r:embed="rId3">
            <a:alphaModFix/>
          </a:blip>
          <a:srcRect b="0" l="0" r="0" t="0"/>
          <a:stretch/>
        </p:blipFill>
        <p:spPr>
          <a:xfrm>
            <a:off x="1663113" y="2196050"/>
            <a:ext cx="5817776" cy="2349500"/>
          </a:xfrm>
          <a:prstGeom prst="rect">
            <a:avLst/>
          </a:prstGeom>
          <a:noFill/>
          <a:ln>
            <a:noFill/>
          </a:ln>
          <a:effectLst>
            <a:outerShdw blurRad="57150" rotWithShape="0" algn="bl" dir="5400000" dist="19050">
              <a:srgbClr val="000000">
                <a:alpha val="49019"/>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3"/>
          <p:cNvSpPr txBox="1"/>
          <p:nvPr>
            <p:ph type="ctrTitle"/>
          </p:nvPr>
        </p:nvSpPr>
        <p:spPr>
          <a:xfrm>
            <a:off x="1607550" y="191925"/>
            <a:ext cx="5928900" cy="970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3600"/>
              <a:t>Step</a:t>
            </a:r>
            <a:endParaRPr sz="3600"/>
          </a:p>
        </p:txBody>
      </p:sp>
      <p:sp>
        <p:nvSpPr>
          <p:cNvPr id="227" name="Google Shape;227;p23"/>
          <p:cNvSpPr txBox="1"/>
          <p:nvPr/>
        </p:nvSpPr>
        <p:spPr>
          <a:xfrm>
            <a:off x="1137250" y="1254550"/>
            <a:ext cx="7043400" cy="47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Palanquin Dark"/>
                <a:ea typeface="Palanquin Dark"/>
                <a:cs typeface="Palanquin Dark"/>
                <a:sym typeface="Palanquin Dark"/>
              </a:rPr>
              <a:t>Executes line by line</a:t>
            </a:r>
            <a:endParaRPr b="0" i="0" sz="1800" u="none" cap="none" strike="noStrike">
              <a:solidFill>
                <a:srgbClr val="000000"/>
              </a:solidFill>
              <a:latin typeface="Palanquin Dark"/>
              <a:ea typeface="Palanquin Dark"/>
              <a:cs typeface="Palanquin Dark"/>
              <a:sym typeface="Palanquin Dark"/>
            </a:endParaRPr>
          </a:p>
        </p:txBody>
      </p:sp>
      <p:sp>
        <p:nvSpPr>
          <p:cNvPr id="228" name="Google Shape;228;p23"/>
          <p:cNvSpPr txBox="1"/>
          <p:nvPr/>
        </p:nvSpPr>
        <p:spPr>
          <a:xfrm>
            <a:off x="1694500" y="3488050"/>
            <a:ext cx="5928900" cy="753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Palanquin Dark"/>
                <a:ea typeface="Palanquin Dark"/>
                <a:cs typeface="Palanquin Dark"/>
                <a:sym typeface="Palanquin Dark"/>
              </a:rPr>
              <a:t>Runs one line in the source code, and stops and return</a:t>
            </a:r>
            <a:endParaRPr b="0" i="0" sz="1800" u="none" cap="none" strike="noStrike">
              <a:solidFill>
                <a:srgbClr val="000000"/>
              </a:solidFill>
              <a:latin typeface="Palanquin Dark"/>
              <a:ea typeface="Palanquin Dark"/>
              <a:cs typeface="Palanquin Dark"/>
              <a:sym typeface="Palanquin Dark"/>
            </a:endParaRPr>
          </a:p>
        </p:txBody>
      </p:sp>
      <p:sp>
        <p:nvSpPr>
          <p:cNvPr id="229" name="Google Shape;229;p23"/>
          <p:cNvSpPr txBox="1"/>
          <p:nvPr/>
        </p:nvSpPr>
        <p:spPr>
          <a:xfrm>
            <a:off x="3625650" y="1942738"/>
            <a:ext cx="1892700" cy="133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800"/>
              <a:buFont typeface="Arial"/>
              <a:buNone/>
            </a:pPr>
            <a:r>
              <a:rPr b="0" i="0" lang="en" sz="4800" u="none" cap="none" strike="noStrike">
                <a:solidFill>
                  <a:srgbClr val="000000"/>
                </a:solidFill>
                <a:latin typeface="Courier New"/>
                <a:ea typeface="Courier New"/>
                <a:cs typeface="Courier New"/>
                <a:sym typeface="Courier New"/>
              </a:rPr>
              <a:t>step</a:t>
            </a:r>
            <a:endParaRPr b="0" i="1" sz="4800" u="none" cap="none" strike="noStrike">
              <a:solidFill>
                <a:srgbClr val="000000"/>
              </a:solidFill>
              <a:latin typeface="Courier New"/>
              <a:ea typeface="Courier New"/>
              <a:cs typeface="Courier New"/>
              <a:sym typeface="Courier New"/>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4"/>
          <p:cNvSpPr txBox="1"/>
          <p:nvPr>
            <p:ph type="ctrTitle"/>
          </p:nvPr>
        </p:nvSpPr>
        <p:spPr>
          <a:xfrm>
            <a:off x="1607550" y="191925"/>
            <a:ext cx="5928900" cy="970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3600"/>
              <a:t>Step</a:t>
            </a:r>
            <a:endParaRPr sz="3600"/>
          </a:p>
        </p:txBody>
      </p:sp>
      <p:sp>
        <p:nvSpPr>
          <p:cNvPr id="235" name="Google Shape;235;p24"/>
          <p:cNvSpPr txBox="1"/>
          <p:nvPr/>
        </p:nvSpPr>
        <p:spPr>
          <a:xfrm>
            <a:off x="1694500" y="3488050"/>
            <a:ext cx="5928900" cy="75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1800" u="none" cap="none" strike="noStrike">
                <a:solidFill>
                  <a:schemeClr val="dk1"/>
                </a:solidFill>
                <a:latin typeface="Palanquin Dark"/>
                <a:ea typeface="Palanquin Dark"/>
                <a:cs typeface="Palanquin Dark"/>
                <a:sym typeface="Palanquin Dark"/>
              </a:rPr>
              <a:t>The </a:t>
            </a:r>
            <a:r>
              <a:rPr b="0" i="1" lang="en" sz="1800" u="none" cap="none" strike="noStrike">
                <a:solidFill>
                  <a:schemeClr val="dk1"/>
                </a:solidFill>
                <a:latin typeface="Palanquin Dark"/>
                <a:ea typeface="Palanquin Dark"/>
                <a:cs typeface="Palanquin Dark"/>
                <a:sym typeface="Palanquin Dark"/>
              </a:rPr>
              <a:t>count</a:t>
            </a:r>
            <a:r>
              <a:rPr b="0" i="0" lang="en" sz="1800" u="none" cap="none" strike="noStrike">
                <a:solidFill>
                  <a:schemeClr val="dk1"/>
                </a:solidFill>
                <a:latin typeface="Palanquin Dark"/>
                <a:ea typeface="Palanquin Dark"/>
                <a:cs typeface="Palanquin Dark"/>
                <a:sym typeface="Palanquin Dark"/>
              </a:rPr>
              <a:t> argument is optional, and allows for stepping through multiple lines </a:t>
            </a:r>
            <a:endParaRPr b="0" i="0" sz="1800" u="none" cap="none" strike="noStrike">
              <a:solidFill>
                <a:srgbClr val="000000"/>
              </a:solidFill>
              <a:latin typeface="Palanquin Dark"/>
              <a:ea typeface="Palanquin Dark"/>
              <a:cs typeface="Palanquin Dark"/>
              <a:sym typeface="Palanquin Dark"/>
            </a:endParaRPr>
          </a:p>
        </p:txBody>
      </p:sp>
      <p:sp>
        <p:nvSpPr>
          <p:cNvPr id="236" name="Google Shape;236;p24"/>
          <p:cNvSpPr txBox="1"/>
          <p:nvPr/>
        </p:nvSpPr>
        <p:spPr>
          <a:xfrm>
            <a:off x="2444650" y="1942750"/>
            <a:ext cx="4428600" cy="133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800"/>
              <a:buFont typeface="Arial"/>
              <a:buNone/>
            </a:pPr>
            <a:r>
              <a:rPr b="0" i="0" lang="en" sz="4800" u="none" cap="none" strike="noStrike">
                <a:solidFill>
                  <a:srgbClr val="000000"/>
                </a:solidFill>
                <a:latin typeface="Courier New"/>
                <a:ea typeface="Courier New"/>
                <a:cs typeface="Courier New"/>
                <a:sym typeface="Courier New"/>
              </a:rPr>
              <a:t>step </a:t>
            </a:r>
            <a:r>
              <a:rPr b="0" i="1" lang="en" sz="4800" u="none" cap="none" strike="noStrike">
                <a:solidFill>
                  <a:srgbClr val="000000"/>
                </a:solidFill>
                <a:latin typeface="Courier New"/>
                <a:ea typeface="Courier New"/>
                <a:cs typeface="Courier New"/>
                <a:sym typeface="Courier New"/>
              </a:rPr>
              <a:t>count</a:t>
            </a:r>
            <a:endParaRPr b="0" i="1" sz="4800" u="none" cap="none" strike="noStrike">
              <a:solidFill>
                <a:srgbClr val="000000"/>
              </a:solidFill>
              <a:latin typeface="Courier New"/>
              <a:ea typeface="Courier New"/>
              <a:cs typeface="Courier New"/>
              <a:sym typeface="Courier New"/>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5"/>
          <p:cNvSpPr txBox="1"/>
          <p:nvPr>
            <p:ph type="ctrTitle"/>
          </p:nvPr>
        </p:nvSpPr>
        <p:spPr>
          <a:xfrm>
            <a:off x="1694500" y="201350"/>
            <a:ext cx="5928900" cy="970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3600"/>
              <a:t>Step</a:t>
            </a:r>
            <a:endParaRPr sz="3600"/>
          </a:p>
        </p:txBody>
      </p:sp>
      <p:pic>
        <p:nvPicPr>
          <p:cNvPr id="242" name="Google Shape;242;p25"/>
          <p:cNvPicPr preferRelativeResize="0"/>
          <p:nvPr/>
        </p:nvPicPr>
        <p:blipFill rotWithShape="1">
          <a:blip r:embed="rId3">
            <a:alphaModFix/>
          </a:blip>
          <a:srcRect b="4309" l="1234" r="0" t="4781"/>
          <a:stretch/>
        </p:blipFill>
        <p:spPr>
          <a:xfrm>
            <a:off x="1887150" y="1931175"/>
            <a:ext cx="5543601" cy="1045650"/>
          </a:xfrm>
          <a:prstGeom prst="rect">
            <a:avLst/>
          </a:prstGeom>
          <a:noFill/>
          <a:ln>
            <a:noFill/>
          </a:ln>
        </p:spPr>
      </p:pic>
      <p:sp>
        <p:nvSpPr>
          <p:cNvPr id="243" name="Google Shape;243;p25"/>
          <p:cNvSpPr txBox="1"/>
          <p:nvPr/>
        </p:nvSpPr>
        <p:spPr>
          <a:xfrm>
            <a:off x="1234600" y="3438400"/>
            <a:ext cx="6848700" cy="744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Palanquin Dark"/>
                <a:ea typeface="Palanquin Dark"/>
                <a:cs typeface="Palanquin Dark"/>
                <a:sym typeface="Palanquin Dark"/>
              </a:rPr>
              <a:t>Without line number information given, acts like the command “</a:t>
            </a:r>
            <a:r>
              <a:rPr b="0" i="0" lang="en" sz="1800" u="none" cap="none" strike="noStrike">
                <a:solidFill>
                  <a:srgbClr val="000000"/>
                </a:solidFill>
                <a:latin typeface="Courier New"/>
                <a:ea typeface="Courier New"/>
                <a:cs typeface="Courier New"/>
                <a:sym typeface="Courier New"/>
              </a:rPr>
              <a:t>continue</a:t>
            </a:r>
            <a:r>
              <a:rPr b="0" i="0" lang="en" sz="1800" u="none" cap="none" strike="noStrike">
                <a:solidFill>
                  <a:srgbClr val="000000"/>
                </a:solidFill>
                <a:latin typeface="Palanquin Dark"/>
                <a:ea typeface="Palanquin Dark"/>
                <a:cs typeface="Palanquin Dark"/>
                <a:sym typeface="Palanquin Dark"/>
              </a:rPr>
              <a:t>”</a:t>
            </a:r>
            <a:endParaRPr b="0" i="0" sz="1800" u="none" cap="none" strike="noStrike">
              <a:solidFill>
                <a:srgbClr val="000000"/>
              </a:solidFill>
              <a:latin typeface="Palanquin Dark"/>
              <a:ea typeface="Palanquin Dark"/>
              <a:cs typeface="Palanquin Dark"/>
              <a:sym typeface="Palanquin Dark"/>
            </a:endParaRPr>
          </a:p>
        </p:txBody>
      </p:sp>
      <p:sp>
        <p:nvSpPr>
          <p:cNvPr id="244" name="Google Shape;244;p25"/>
          <p:cNvSpPr txBox="1"/>
          <p:nvPr/>
        </p:nvSpPr>
        <p:spPr>
          <a:xfrm>
            <a:off x="2134300" y="4314575"/>
            <a:ext cx="5049300" cy="405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ourier New"/>
                <a:ea typeface="Courier New"/>
                <a:cs typeface="Courier New"/>
                <a:sym typeface="Courier New"/>
              </a:rPr>
              <a:t>Step</a:t>
            </a:r>
            <a:r>
              <a:rPr b="0" i="0" lang="en" sz="1800" u="none" cap="none" strike="noStrike">
                <a:solidFill>
                  <a:srgbClr val="000000"/>
                </a:solidFill>
                <a:latin typeface="Palanquin Dark"/>
                <a:ea typeface="Palanquin Dark"/>
                <a:cs typeface="Palanquin Dark"/>
                <a:sym typeface="Palanquin Dark"/>
              </a:rPr>
              <a:t> is abbreviated to </a:t>
            </a:r>
            <a:r>
              <a:rPr b="0" i="0" lang="en" sz="1800" u="none" cap="none" strike="noStrike">
                <a:solidFill>
                  <a:srgbClr val="000000"/>
                </a:solidFill>
                <a:latin typeface="Courier New"/>
                <a:ea typeface="Courier New"/>
                <a:cs typeface="Courier New"/>
                <a:sym typeface="Courier New"/>
              </a:rPr>
              <a:t>s</a:t>
            </a:r>
            <a:endParaRPr b="0" i="0" sz="1800" u="none" cap="none" strike="noStrike">
              <a:solidFill>
                <a:srgbClr val="000000"/>
              </a:solidFill>
              <a:latin typeface="Courier New"/>
              <a:ea typeface="Courier New"/>
              <a:cs typeface="Courier New"/>
              <a:sym typeface="Courier New"/>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6"/>
          <p:cNvSpPr txBox="1"/>
          <p:nvPr>
            <p:ph type="ctrTitle"/>
          </p:nvPr>
        </p:nvSpPr>
        <p:spPr>
          <a:xfrm>
            <a:off x="1607550" y="191925"/>
            <a:ext cx="5928900" cy="970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3600"/>
              <a:t>Stepi</a:t>
            </a:r>
            <a:endParaRPr sz="3600"/>
          </a:p>
        </p:txBody>
      </p:sp>
      <p:sp>
        <p:nvSpPr>
          <p:cNvPr id="250" name="Google Shape;250;p26"/>
          <p:cNvSpPr txBox="1"/>
          <p:nvPr/>
        </p:nvSpPr>
        <p:spPr>
          <a:xfrm>
            <a:off x="1137250" y="1254550"/>
            <a:ext cx="7043400" cy="47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Palanquin Dark"/>
                <a:ea typeface="Palanquin Dark"/>
                <a:cs typeface="Palanquin Dark"/>
                <a:sym typeface="Palanquin Dark"/>
              </a:rPr>
              <a:t>Executes instruction by instruction</a:t>
            </a:r>
            <a:endParaRPr b="0" i="0" sz="1800" u="none" cap="none" strike="noStrike">
              <a:solidFill>
                <a:srgbClr val="000000"/>
              </a:solidFill>
              <a:latin typeface="Palanquin Dark"/>
              <a:ea typeface="Palanquin Dark"/>
              <a:cs typeface="Palanquin Dark"/>
              <a:sym typeface="Palanquin Dark"/>
            </a:endParaRPr>
          </a:p>
        </p:txBody>
      </p:sp>
      <p:sp>
        <p:nvSpPr>
          <p:cNvPr id="251" name="Google Shape;251;p26"/>
          <p:cNvSpPr txBox="1"/>
          <p:nvPr/>
        </p:nvSpPr>
        <p:spPr>
          <a:xfrm>
            <a:off x="1607550" y="3488050"/>
            <a:ext cx="5928900" cy="753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Palanquin Dark"/>
                <a:ea typeface="Palanquin Dark"/>
                <a:cs typeface="Palanquin Dark"/>
                <a:sym typeface="Palanquin Dark"/>
              </a:rPr>
              <a:t>Runs one machine instruction, and stops and return</a:t>
            </a:r>
            <a:endParaRPr b="0" i="0" sz="1800" u="none" cap="none" strike="noStrike">
              <a:solidFill>
                <a:srgbClr val="000000"/>
              </a:solidFill>
              <a:latin typeface="Palanquin Dark"/>
              <a:ea typeface="Palanquin Dark"/>
              <a:cs typeface="Palanquin Dark"/>
              <a:sym typeface="Palanquin Dark"/>
            </a:endParaRPr>
          </a:p>
        </p:txBody>
      </p:sp>
      <p:sp>
        <p:nvSpPr>
          <p:cNvPr id="252" name="Google Shape;252;p26"/>
          <p:cNvSpPr txBox="1"/>
          <p:nvPr/>
        </p:nvSpPr>
        <p:spPr>
          <a:xfrm>
            <a:off x="3539850" y="1942750"/>
            <a:ext cx="2064300" cy="133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800"/>
              <a:buFont typeface="Arial"/>
              <a:buNone/>
            </a:pPr>
            <a:r>
              <a:rPr b="0" i="0" lang="en" sz="4800" u="none" cap="none" strike="noStrike">
                <a:solidFill>
                  <a:srgbClr val="000000"/>
                </a:solidFill>
                <a:latin typeface="Courier New"/>
                <a:ea typeface="Courier New"/>
                <a:cs typeface="Courier New"/>
                <a:sym typeface="Courier New"/>
              </a:rPr>
              <a:t>stepi</a:t>
            </a:r>
            <a:endParaRPr b="0" i="1" sz="4800" u="none" cap="none" strike="noStrike">
              <a:solidFill>
                <a:srgbClr val="000000"/>
              </a:solidFill>
              <a:latin typeface="Courier New"/>
              <a:ea typeface="Courier New"/>
              <a:cs typeface="Courier New"/>
              <a:sym typeface="Courier New"/>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7"/>
          <p:cNvSpPr txBox="1"/>
          <p:nvPr>
            <p:ph type="ctrTitle"/>
          </p:nvPr>
        </p:nvSpPr>
        <p:spPr>
          <a:xfrm>
            <a:off x="1694500" y="201350"/>
            <a:ext cx="5928900" cy="970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3600"/>
              <a:t>Stepi</a:t>
            </a:r>
            <a:endParaRPr sz="3600"/>
          </a:p>
        </p:txBody>
      </p:sp>
      <p:sp>
        <p:nvSpPr>
          <p:cNvPr id="258" name="Google Shape;258;p27"/>
          <p:cNvSpPr txBox="1"/>
          <p:nvPr/>
        </p:nvSpPr>
        <p:spPr>
          <a:xfrm>
            <a:off x="1437400" y="3551450"/>
            <a:ext cx="6443100" cy="466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ourier New"/>
                <a:ea typeface="Courier New"/>
                <a:cs typeface="Courier New"/>
                <a:sym typeface="Courier New"/>
              </a:rPr>
              <a:t>Stepi</a:t>
            </a:r>
            <a:r>
              <a:rPr b="0" i="0" lang="en" sz="1800" u="none" cap="none" strike="noStrike">
                <a:solidFill>
                  <a:srgbClr val="000000"/>
                </a:solidFill>
                <a:latin typeface="Palanquin Dark"/>
                <a:ea typeface="Palanquin Dark"/>
                <a:cs typeface="Palanquin Dark"/>
                <a:sym typeface="Palanquin Dark"/>
              </a:rPr>
              <a:t> works even without line number information</a:t>
            </a:r>
            <a:endParaRPr b="0" i="0" sz="1800" u="none" cap="none" strike="noStrike">
              <a:solidFill>
                <a:srgbClr val="000000"/>
              </a:solidFill>
              <a:latin typeface="Palanquin Dark"/>
              <a:ea typeface="Palanquin Dark"/>
              <a:cs typeface="Palanquin Dark"/>
              <a:sym typeface="Palanquin Dark"/>
            </a:endParaRPr>
          </a:p>
        </p:txBody>
      </p:sp>
      <p:sp>
        <p:nvSpPr>
          <p:cNvPr id="259" name="Google Shape;259;p27"/>
          <p:cNvSpPr txBox="1"/>
          <p:nvPr/>
        </p:nvSpPr>
        <p:spPr>
          <a:xfrm>
            <a:off x="2134300" y="4239225"/>
            <a:ext cx="5049300" cy="405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ourier New"/>
                <a:ea typeface="Courier New"/>
                <a:cs typeface="Courier New"/>
                <a:sym typeface="Courier New"/>
              </a:rPr>
              <a:t>Stepi</a:t>
            </a:r>
            <a:r>
              <a:rPr b="0" i="0" lang="en" sz="1800" u="none" cap="none" strike="noStrike">
                <a:solidFill>
                  <a:srgbClr val="000000"/>
                </a:solidFill>
                <a:latin typeface="Palanquin Dark"/>
                <a:ea typeface="Palanquin Dark"/>
                <a:cs typeface="Palanquin Dark"/>
                <a:sym typeface="Palanquin Dark"/>
              </a:rPr>
              <a:t> is abbreviated to </a:t>
            </a:r>
            <a:r>
              <a:rPr b="0" i="0" lang="en" sz="1800" u="none" cap="none" strike="noStrike">
                <a:solidFill>
                  <a:srgbClr val="000000"/>
                </a:solidFill>
                <a:latin typeface="Courier New"/>
                <a:ea typeface="Courier New"/>
                <a:cs typeface="Courier New"/>
                <a:sym typeface="Courier New"/>
              </a:rPr>
              <a:t>si</a:t>
            </a:r>
            <a:endParaRPr b="0" i="0" sz="1800" u="none" cap="none" strike="noStrike">
              <a:solidFill>
                <a:srgbClr val="000000"/>
              </a:solidFill>
              <a:latin typeface="Courier New"/>
              <a:ea typeface="Courier New"/>
              <a:cs typeface="Courier New"/>
              <a:sym typeface="Courier New"/>
            </a:endParaRPr>
          </a:p>
        </p:txBody>
      </p:sp>
      <p:pic>
        <p:nvPicPr>
          <p:cNvPr id="260" name="Google Shape;260;p27"/>
          <p:cNvPicPr preferRelativeResize="0"/>
          <p:nvPr/>
        </p:nvPicPr>
        <p:blipFill rotWithShape="1">
          <a:blip r:embed="rId3">
            <a:alphaModFix/>
          </a:blip>
          <a:srcRect b="0" l="0" r="0" t="0"/>
          <a:stretch/>
        </p:blipFill>
        <p:spPr>
          <a:xfrm>
            <a:off x="2001525" y="1324250"/>
            <a:ext cx="5314826" cy="1878650"/>
          </a:xfrm>
          <a:prstGeom prst="rect">
            <a:avLst/>
          </a:prstGeom>
          <a:noFill/>
          <a:ln>
            <a:noFill/>
          </a:ln>
          <a:effectLst>
            <a:outerShdw blurRad="57150" rotWithShape="0" algn="bl" dir="5400000" dist="19050">
              <a:srgbClr val="000000">
                <a:alpha val="49019"/>
              </a:srgb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8"/>
          <p:cNvSpPr txBox="1"/>
          <p:nvPr>
            <p:ph type="ctrTitle"/>
          </p:nvPr>
        </p:nvSpPr>
        <p:spPr>
          <a:xfrm>
            <a:off x="1607550" y="191925"/>
            <a:ext cx="5928900" cy="970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3600"/>
              <a:t>Next</a:t>
            </a:r>
            <a:endParaRPr sz="3600"/>
          </a:p>
        </p:txBody>
      </p:sp>
      <p:sp>
        <p:nvSpPr>
          <p:cNvPr id="266" name="Google Shape;266;p28"/>
          <p:cNvSpPr txBox="1"/>
          <p:nvPr/>
        </p:nvSpPr>
        <p:spPr>
          <a:xfrm>
            <a:off x="1137250" y="1254550"/>
            <a:ext cx="7043400" cy="47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Palanquin Dark"/>
                <a:ea typeface="Palanquin Dark"/>
                <a:cs typeface="Palanquin Dark"/>
                <a:sym typeface="Palanquin Dark"/>
              </a:rPr>
              <a:t>Also executes line by line...with one difference</a:t>
            </a:r>
            <a:endParaRPr b="0" i="0" sz="1800" u="none" cap="none" strike="noStrike">
              <a:solidFill>
                <a:srgbClr val="000000"/>
              </a:solidFill>
              <a:latin typeface="Palanquin Dark"/>
              <a:ea typeface="Palanquin Dark"/>
              <a:cs typeface="Palanquin Dark"/>
              <a:sym typeface="Palanquin Dark"/>
            </a:endParaRPr>
          </a:p>
        </p:txBody>
      </p:sp>
      <p:sp>
        <p:nvSpPr>
          <p:cNvPr id="267" name="Google Shape;267;p28"/>
          <p:cNvSpPr txBox="1"/>
          <p:nvPr/>
        </p:nvSpPr>
        <p:spPr>
          <a:xfrm>
            <a:off x="1694500" y="3488050"/>
            <a:ext cx="5928900" cy="753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Palanquin Dark"/>
                <a:ea typeface="Palanquin Dark"/>
                <a:cs typeface="Palanquin Dark"/>
                <a:sym typeface="Palanquin Dark"/>
              </a:rPr>
              <a:t>Runs one line in the source code, but </a:t>
            </a:r>
            <a:r>
              <a:rPr b="0" i="1" lang="en" sz="1800" u="none" cap="none" strike="noStrike">
                <a:solidFill>
                  <a:srgbClr val="000000"/>
                </a:solidFill>
                <a:latin typeface="Palanquin Dark"/>
                <a:ea typeface="Palanquin Dark"/>
                <a:cs typeface="Palanquin Dark"/>
                <a:sym typeface="Palanquin Dark"/>
              </a:rPr>
              <a:t>doesn’t</a:t>
            </a:r>
            <a:r>
              <a:rPr b="0" i="0" lang="en" sz="1800" u="none" cap="none" strike="noStrike">
                <a:solidFill>
                  <a:srgbClr val="000000"/>
                </a:solidFill>
                <a:latin typeface="Palanquin Dark"/>
                <a:ea typeface="Palanquin Dark"/>
                <a:cs typeface="Palanquin Dark"/>
                <a:sym typeface="Palanquin Dark"/>
              </a:rPr>
              <a:t> “step into” functions. IE, proceeds through subroutine calls.</a:t>
            </a:r>
            <a:endParaRPr b="0" i="0" sz="1800" u="none" cap="none" strike="noStrike">
              <a:solidFill>
                <a:srgbClr val="000000"/>
              </a:solidFill>
              <a:latin typeface="Palanquin Dark"/>
              <a:ea typeface="Palanquin Dark"/>
              <a:cs typeface="Palanquin Dark"/>
              <a:sym typeface="Palanquin Dark"/>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Palanquin Dark"/>
                <a:ea typeface="Palanquin Dark"/>
                <a:cs typeface="Palanquin Dark"/>
                <a:sym typeface="Palanquin Dark"/>
              </a:rPr>
              <a:t>Like step, can also be run with the [count] argument</a:t>
            </a:r>
            <a:endParaRPr b="0" i="0" sz="1800" u="none" cap="none" strike="noStrike">
              <a:solidFill>
                <a:srgbClr val="000000"/>
              </a:solidFill>
              <a:latin typeface="Palanquin Dark"/>
              <a:ea typeface="Palanquin Dark"/>
              <a:cs typeface="Palanquin Dark"/>
              <a:sym typeface="Palanquin Dark"/>
            </a:endParaRPr>
          </a:p>
        </p:txBody>
      </p:sp>
      <p:sp>
        <p:nvSpPr>
          <p:cNvPr id="268" name="Google Shape;268;p28"/>
          <p:cNvSpPr txBox="1"/>
          <p:nvPr/>
        </p:nvSpPr>
        <p:spPr>
          <a:xfrm>
            <a:off x="3625650" y="1942738"/>
            <a:ext cx="1892700" cy="133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800"/>
              <a:buFont typeface="Arial"/>
              <a:buNone/>
            </a:pPr>
            <a:r>
              <a:rPr b="0" i="0" lang="en" sz="4800" u="none" cap="none" strike="noStrike">
                <a:solidFill>
                  <a:srgbClr val="000000"/>
                </a:solidFill>
                <a:latin typeface="Courier New"/>
                <a:ea typeface="Courier New"/>
                <a:cs typeface="Courier New"/>
                <a:sym typeface="Courier New"/>
              </a:rPr>
              <a:t>next</a:t>
            </a:r>
            <a:endParaRPr b="0" i="1" sz="4800" u="none" cap="none" strike="noStrike">
              <a:solidFill>
                <a:srgbClr val="000000"/>
              </a:solidFill>
              <a:latin typeface="Courier New"/>
              <a:ea typeface="Courier New"/>
              <a:cs typeface="Courier New"/>
              <a:sym typeface="Courier New"/>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9"/>
          <p:cNvSpPr txBox="1"/>
          <p:nvPr>
            <p:ph type="ctrTitle"/>
          </p:nvPr>
        </p:nvSpPr>
        <p:spPr>
          <a:xfrm>
            <a:off x="1607550" y="191925"/>
            <a:ext cx="5928900" cy="970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3600"/>
              <a:t>Nexti</a:t>
            </a:r>
            <a:endParaRPr sz="3600"/>
          </a:p>
        </p:txBody>
      </p:sp>
      <p:sp>
        <p:nvSpPr>
          <p:cNvPr id="274" name="Google Shape;274;p29"/>
          <p:cNvSpPr txBox="1"/>
          <p:nvPr/>
        </p:nvSpPr>
        <p:spPr>
          <a:xfrm>
            <a:off x="1137250" y="1254550"/>
            <a:ext cx="7043400" cy="47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Palanquin Dark"/>
                <a:ea typeface="Palanquin Dark"/>
                <a:cs typeface="Palanquin Dark"/>
                <a:sym typeface="Palanquin Dark"/>
              </a:rPr>
              <a:t>Executes instruction by instruction, proceeding through subroutine calls</a:t>
            </a:r>
            <a:endParaRPr b="0" i="0" sz="1800" u="none" cap="none" strike="noStrike">
              <a:solidFill>
                <a:srgbClr val="000000"/>
              </a:solidFill>
              <a:latin typeface="Palanquin Dark"/>
              <a:ea typeface="Palanquin Dark"/>
              <a:cs typeface="Palanquin Dark"/>
              <a:sym typeface="Palanquin Dark"/>
            </a:endParaRPr>
          </a:p>
        </p:txBody>
      </p:sp>
      <p:sp>
        <p:nvSpPr>
          <p:cNvPr id="275" name="Google Shape;275;p29"/>
          <p:cNvSpPr txBox="1"/>
          <p:nvPr/>
        </p:nvSpPr>
        <p:spPr>
          <a:xfrm>
            <a:off x="1607550" y="3488050"/>
            <a:ext cx="5928900" cy="753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Palanquin Dark"/>
                <a:ea typeface="Palanquin Dark"/>
                <a:cs typeface="Palanquin Dark"/>
                <a:sym typeface="Palanquin Dark"/>
              </a:rPr>
              <a:t>Runs one machine instruction, and stops and return</a:t>
            </a:r>
            <a:endParaRPr b="0" i="0" sz="1800" u="none" cap="none" strike="noStrike">
              <a:solidFill>
                <a:srgbClr val="000000"/>
              </a:solidFill>
              <a:latin typeface="Palanquin Dark"/>
              <a:ea typeface="Palanquin Dark"/>
              <a:cs typeface="Palanquin Dark"/>
              <a:sym typeface="Palanquin Dark"/>
            </a:endParaRPr>
          </a:p>
        </p:txBody>
      </p:sp>
      <p:sp>
        <p:nvSpPr>
          <p:cNvPr id="276" name="Google Shape;276;p29"/>
          <p:cNvSpPr txBox="1"/>
          <p:nvPr/>
        </p:nvSpPr>
        <p:spPr>
          <a:xfrm>
            <a:off x="3539850" y="1942750"/>
            <a:ext cx="2064300" cy="133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800"/>
              <a:buFont typeface="Arial"/>
              <a:buNone/>
            </a:pPr>
            <a:r>
              <a:rPr b="0" i="0" lang="en" sz="4800" u="none" cap="none" strike="noStrike">
                <a:solidFill>
                  <a:srgbClr val="000000"/>
                </a:solidFill>
                <a:latin typeface="Courier New"/>
                <a:ea typeface="Courier New"/>
                <a:cs typeface="Courier New"/>
                <a:sym typeface="Courier New"/>
              </a:rPr>
              <a:t>nexti</a:t>
            </a:r>
            <a:endParaRPr b="0" i="1" sz="4800" u="none" cap="none" strike="noStrike">
              <a:solidFill>
                <a:srgbClr val="000000"/>
              </a:solidFill>
              <a:latin typeface="Courier New"/>
              <a:ea typeface="Courier New"/>
              <a:cs typeface="Courier New"/>
              <a:sym typeface="Courier New"/>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0"/>
          <p:cNvSpPr txBox="1"/>
          <p:nvPr>
            <p:ph type="ctrTitle"/>
          </p:nvPr>
        </p:nvSpPr>
        <p:spPr>
          <a:xfrm>
            <a:off x="1607550" y="201350"/>
            <a:ext cx="5928900" cy="970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3600"/>
              <a:t>Print</a:t>
            </a:r>
            <a:endParaRPr sz="3600"/>
          </a:p>
        </p:txBody>
      </p:sp>
      <p:sp>
        <p:nvSpPr>
          <p:cNvPr id="282" name="Google Shape;282;p30"/>
          <p:cNvSpPr txBox="1"/>
          <p:nvPr/>
        </p:nvSpPr>
        <p:spPr>
          <a:xfrm>
            <a:off x="1137250" y="1248050"/>
            <a:ext cx="7043400" cy="47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Palanquin Dark"/>
                <a:ea typeface="Palanquin Dark"/>
                <a:cs typeface="Palanquin Dark"/>
                <a:sym typeface="Palanquin Dark"/>
              </a:rPr>
              <a:t>To print the value of registers (and other variables)</a:t>
            </a:r>
            <a:endParaRPr b="0" i="0" sz="1800" u="none" cap="none" strike="noStrike">
              <a:solidFill>
                <a:srgbClr val="000000"/>
              </a:solidFill>
              <a:latin typeface="Palanquin Dark"/>
              <a:ea typeface="Palanquin Dark"/>
              <a:cs typeface="Palanquin Dark"/>
              <a:sym typeface="Palanquin Dark"/>
            </a:endParaRPr>
          </a:p>
        </p:txBody>
      </p:sp>
      <p:sp>
        <p:nvSpPr>
          <p:cNvPr id="283" name="Google Shape;283;p30"/>
          <p:cNvSpPr txBox="1"/>
          <p:nvPr/>
        </p:nvSpPr>
        <p:spPr>
          <a:xfrm>
            <a:off x="1694500" y="1802450"/>
            <a:ext cx="5928900" cy="724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00000"/>
                </a:solidFill>
                <a:latin typeface="Courier New"/>
                <a:ea typeface="Courier New"/>
                <a:cs typeface="Courier New"/>
                <a:sym typeface="Courier New"/>
              </a:rPr>
              <a:t>p/</a:t>
            </a:r>
            <a:r>
              <a:rPr b="0" i="1" lang="en" sz="3000" u="none" cap="none" strike="noStrike">
                <a:solidFill>
                  <a:srgbClr val="000000"/>
                </a:solidFill>
                <a:latin typeface="Courier New"/>
                <a:ea typeface="Courier New"/>
                <a:cs typeface="Courier New"/>
                <a:sym typeface="Courier New"/>
              </a:rPr>
              <a:t>format</a:t>
            </a:r>
            <a:r>
              <a:rPr b="0" i="0" lang="en" sz="3000" u="none" cap="none" strike="noStrike">
                <a:solidFill>
                  <a:srgbClr val="000000"/>
                </a:solidFill>
                <a:latin typeface="Courier New"/>
                <a:ea typeface="Courier New"/>
                <a:cs typeface="Courier New"/>
                <a:sym typeface="Courier New"/>
              </a:rPr>
              <a:t> </a:t>
            </a:r>
            <a:r>
              <a:rPr b="0" i="1" lang="en" sz="3000" u="none" cap="none" strike="noStrike">
                <a:solidFill>
                  <a:srgbClr val="000000"/>
                </a:solidFill>
                <a:latin typeface="Courier New"/>
                <a:ea typeface="Courier New"/>
                <a:cs typeface="Courier New"/>
                <a:sym typeface="Courier New"/>
              </a:rPr>
              <a:t>what_to_print</a:t>
            </a:r>
            <a:endParaRPr b="0" i="1" sz="3000" u="none" cap="none" strike="noStrike">
              <a:solidFill>
                <a:srgbClr val="000000"/>
              </a:solidFill>
              <a:latin typeface="Courier New"/>
              <a:ea typeface="Courier New"/>
              <a:cs typeface="Courier New"/>
              <a:sym typeface="Courier New"/>
            </a:endParaRPr>
          </a:p>
        </p:txBody>
      </p:sp>
      <p:sp>
        <p:nvSpPr>
          <p:cNvPr id="284" name="Google Shape;284;p30"/>
          <p:cNvSpPr txBox="1"/>
          <p:nvPr/>
        </p:nvSpPr>
        <p:spPr>
          <a:xfrm>
            <a:off x="1137250" y="2965300"/>
            <a:ext cx="7043400" cy="47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Palanquin Dark"/>
                <a:ea typeface="Palanquin Dark"/>
                <a:cs typeface="Palanquin Dark"/>
                <a:sym typeface="Palanquin Dark"/>
              </a:rPr>
              <a:t>The argument for break can be a register or some number. (It can also be a variable name, but since you aren't given the source file, this is not very useful.)</a:t>
            </a:r>
            <a:endParaRPr b="0" i="0" sz="1800" u="none" cap="none" strike="noStrike">
              <a:solidFill>
                <a:srgbClr val="000000"/>
              </a:solidFill>
              <a:latin typeface="Palanquin Dark"/>
              <a:ea typeface="Palanquin Dark"/>
              <a:cs typeface="Palanquin Dark"/>
              <a:sym typeface="Palanquin Dark"/>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1"/>
          <p:cNvSpPr txBox="1"/>
          <p:nvPr>
            <p:ph type="ctrTitle"/>
          </p:nvPr>
        </p:nvSpPr>
        <p:spPr>
          <a:xfrm>
            <a:off x="1607550" y="201350"/>
            <a:ext cx="5928900" cy="970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3600"/>
              <a:t>Format</a:t>
            </a:r>
            <a:endParaRPr sz="3600"/>
          </a:p>
        </p:txBody>
      </p:sp>
      <p:sp>
        <p:nvSpPr>
          <p:cNvPr id="290" name="Google Shape;290;p31"/>
          <p:cNvSpPr txBox="1"/>
          <p:nvPr/>
        </p:nvSpPr>
        <p:spPr>
          <a:xfrm>
            <a:off x="923950" y="1248050"/>
            <a:ext cx="7470000" cy="47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Palanquin Dark"/>
                <a:ea typeface="Palanquin Dark"/>
                <a:cs typeface="Palanquin Dark"/>
                <a:sym typeface="Palanquin Dark"/>
              </a:rPr>
              <a:t>The character after the slash that says how to format the argument</a:t>
            </a:r>
            <a:endParaRPr b="0" i="0" sz="1800" u="none" cap="none" strike="noStrike">
              <a:solidFill>
                <a:srgbClr val="000000"/>
              </a:solidFill>
              <a:latin typeface="Palanquin Dark"/>
              <a:ea typeface="Palanquin Dark"/>
              <a:cs typeface="Palanquin Dark"/>
              <a:sym typeface="Palanquin Dark"/>
            </a:endParaRPr>
          </a:p>
        </p:txBody>
      </p:sp>
      <p:sp>
        <p:nvSpPr>
          <p:cNvPr id="291" name="Google Shape;291;p31"/>
          <p:cNvSpPr txBox="1"/>
          <p:nvPr/>
        </p:nvSpPr>
        <p:spPr>
          <a:xfrm>
            <a:off x="1137250" y="1805613"/>
            <a:ext cx="2959500" cy="131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Palanquin Dark"/>
                <a:ea typeface="Palanquin Dark"/>
                <a:cs typeface="Palanquin Dark"/>
                <a:sym typeface="Palanquin Dark"/>
              </a:rPr>
              <a:t>Some format characters:</a:t>
            </a:r>
            <a:endParaRPr b="0" i="0" sz="1800" u="none" cap="none" strike="noStrike">
              <a:solidFill>
                <a:srgbClr val="000000"/>
              </a:solidFill>
              <a:latin typeface="Palanquin Dark"/>
              <a:ea typeface="Palanquin Dark"/>
              <a:cs typeface="Palanquin Dark"/>
              <a:sym typeface="Palanquin Dark"/>
            </a:endParaRPr>
          </a:p>
          <a:p>
            <a:pPr indent="-342900" lvl="0" marL="457200" marR="0" rtl="0" algn="l">
              <a:lnSpc>
                <a:spcPct val="100000"/>
              </a:lnSpc>
              <a:spcBef>
                <a:spcPts val="0"/>
              </a:spcBef>
              <a:spcAft>
                <a:spcPts val="0"/>
              </a:spcAft>
              <a:buClr>
                <a:srgbClr val="000000"/>
              </a:buClr>
              <a:buSzPts val="1800"/>
              <a:buFont typeface="Palanquin Dark"/>
              <a:buChar char="●"/>
            </a:pPr>
            <a:r>
              <a:rPr b="0" i="0" lang="en" sz="1800" u="none" cap="none" strike="noStrike">
                <a:solidFill>
                  <a:srgbClr val="000000"/>
                </a:solidFill>
                <a:latin typeface="Courier New"/>
                <a:ea typeface="Courier New"/>
                <a:cs typeface="Courier New"/>
                <a:sym typeface="Courier New"/>
              </a:rPr>
              <a:t>x</a:t>
            </a:r>
            <a:r>
              <a:rPr b="0" i="0" lang="en" sz="1800" u="none" cap="none" strike="noStrike">
                <a:solidFill>
                  <a:srgbClr val="000000"/>
                </a:solidFill>
                <a:latin typeface="Palanquin Dark"/>
                <a:ea typeface="Palanquin Dark"/>
                <a:cs typeface="Palanquin Dark"/>
                <a:sym typeface="Palanquin Dark"/>
              </a:rPr>
              <a:t>   for hexadecimal</a:t>
            </a:r>
            <a:endParaRPr b="0" i="0" sz="1800" u="none" cap="none" strike="noStrike">
              <a:solidFill>
                <a:srgbClr val="000000"/>
              </a:solidFill>
              <a:latin typeface="Palanquin Dark"/>
              <a:ea typeface="Palanquin Dark"/>
              <a:cs typeface="Palanquin Dark"/>
              <a:sym typeface="Palanquin Dark"/>
            </a:endParaRPr>
          </a:p>
          <a:p>
            <a:pPr indent="-342900" lvl="0" marL="457200" marR="0" rtl="0" algn="l">
              <a:lnSpc>
                <a:spcPct val="100000"/>
              </a:lnSpc>
              <a:spcBef>
                <a:spcPts val="0"/>
              </a:spcBef>
              <a:spcAft>
                <a:spcPts val="0"/>
              </a:spcAft>
              <a:buClr>
                <a:srgbClr val="000000"/>
              </a:buClr>
              <a:buSzPts val="1800"/>
              <a:buFont typeface="Palanquin Dark"/>
              <a:buChar char="●"/>
            </a:pPr>
            <a:r>
              <a:rPr b="0" i="0" lang="en" sz="1800" u="none" cap="none" strike="noStrike">
                <a:solidFill>
                  <a:srgbClr val="000000"/>
                </a:solidFill>
                <a:latin typeface="Courier New"/>
                <a:ea typeface="Courier New"/>
                <a:cs typeface="Courier New"/>
                <a:sym typeface="Courier New"/>
              </a:rPr>
              <a:t>d</a:t>
            </a:r>
            <a:r>
              <a:rPr b="0" i="0" lang="en" sz="1800" u="none" cap="none" strike="noStrike">
                <a:solidFill>
                  <a:srgbClr val="000000"/>
                </a:solidFill>
                <a:latin typeface="Palanquin Dark"/>
                <a:ea typeface="Palanquin Dark"/>
                <a:cs typeface="Palanquin Dark"/>
                <a:sym typeface="Palanquin Dark"/>
              </a:rPr>
              <a:t>   for decimal</a:t>
            </a:r>
            <a:endParaRPr b="0" i="0" sz="1800" u="none" cap="none" strike="noStrike">
              <a:solidFill>
                <a:srgbClr val="000000"/>
              </a:solidFill>
              <a:latin typeface="Palanquin Dark"/>
              <a:ea typeface="Palanquin Dark"/>
              <a:cs typeface="Palanquin Dark"/>
              <a:sym typeface="Palanquin Dark"/>
            </a:endParaRPr>
          </a:p>
          <a:p>
            <a:pPr indent="-342900" lvl="0" marL="457200" marR="0" rtl="0" algn="l">
              <a:lnSpc>
                <a:spcPct val="100000"/>
              </a:lnSpc>
              <a:spcBef>
                <a:spcPts val="0"/>
              </a:spcBef>
              <a:spcAft>
                <a:spcPts val="0"/>
              </a:spcAft>
              <a:buClr>
                <a:srgbClr val="000000"/>
              </a:buClr>
              <a:buSzPts val="1800"/>
              <a:buFont typeface="Palanquin Dark"/>
              <a:buChar char="●"/>
            </a:pPr>
            <a:r>
              <a:rPr b="0" i="0" lang="en" sz="1800" u="none" cap="none" strike="noStrike">
                <a:solidFill>
                  <a:srgbClr val="000000"/>
                </a:solidFill>
                <a:latin typeface="Courier New"/>
                <a:ea typeface="Courier New"/>
                <a:cs typeface="Courier New"/>
                <a:sym typeface="Courier New"/>
              </a:rPr>
              <a:t>c</a:t>
            </a:r>
            <a:r>
              <a:rPr b="0" i="0" lang="en" sz="1800" u="none" cap="none" strike="noStrike">
                <a:solidFill>
                  <a:srgbClr val="000000"/>
                </a:solidFill>
                <a:latin typeface="Palanquin Dark"/>
                <a:ea typeface="Palanquin Dark"/>
                <a:cs typeface="Palanquin Dark"/>
                <a:sym typeface="Palanquin Dark"/>
              </a:rPr>
              <a:t>   for character</a:t>
            </a:r>
            <a:endParaRPr b="0" i="0" sz="1800" u="none" cap="none" strike="noStrike">
              <a:solidFill>
                <a:srgbClr val="000000"/>
              </a:solidFill>
              <a:latin typeface="Palanquin Dark"/>
              <a:ea typeface="Palanquin Dark"/>
              <a:cs typeface="Palanquin Dark"/>
              <a:sym typeface="Palanquin Dark"/>
            </a:endParaRPr>
          </a:p>
          <a:p>
            <a:pPr indent="-342900" lvl="0" marL="457200" marR="0" rtl="0" algn="l">
              <a:lnSpc>
                <a:spcPct val="100000"/>
              </a:lnSpc>
              <a:spcBef>
                <a:spcPts val="0"/>
              </a:spcBef>
              <a:spcAft>
                <a:spcPts val="0"/>
              </a:spcAft>
              <a:buClr>
                <a:srgbClr val="000000"/>
              </a:buClr>
              <a:buSzPts val="1800"/>
              <a:buFont typeface="Palanquin Dark"/>
              <a:buChar char="●"/>
            </a:pPr>
            <a:r>
              <a:rPr b="0" i="0" lang="en" sz="1800" u="none" cap="none" strike="noStrike">
                <a:solidFill>
                  <a:srgbClr val="000000"/>
                </a:solidFill>
                <a:latin typeface="Palanquin Dark"/>
                <a:ea typeface="Palanquin Dark"/>
                <a:cs typeface="Palanquin Dark"/>
                <a:sym typeface="Palanquin Dark"/>
              </a:rPr>
              <a:t>nothing for default</a:t>
            </a:r>
            <a:endParaRPr b="0" i="0" sz="1800" u="none" cap="none" strike="noStrike">
              <a:solidFill>
                <a:srgbClr val="000000"/>
              </a:solidFill>
              <a:latin typeface="Palanquin Dark"/>
              <a:ea typeface="Palanquin Dark"/>
              <a:cs typeface="Palanquin Dark"/>
              <a:sym typeface="Palanquin Dark"/>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Palanquin Dark"/>
              <a:ea typeface="Palanquin Dark"/>
              <a:cs typeface="Palanquin Dark"/>
              <a:sym typeface="Palanquin Dark"/>
            </a:endParaRPr>
          </a:p>
        </p:txBody>
      </p:sp>
      <p:sp>
        <p:nvSpPr>
          <p:cNvPr id="292" name="Google Shape;292;p31"/>
          <p:cNvSpPr txBox="1"/>
          <p:nvPr/>
        </p:nvSpPr>
        <p:spPr>
          <a:xfrm>
            <a:off x="766050" y="3750075"/>
            <a:ext cx="7611900" cy="47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Palanquin Dark"/>
                <a:ea typeface="Palanquin Dark"/>
                <a:cs typeface="Palanquin Dark"/>
                <a:sym typeface="Palanquin Dark"/>
              </a:rPr>
              <a:t>Full list of output formats: </a:t>
            </a:r>
            <a:r>
              <a:rPr b="0" i="0" lang="en" sz="1800" u="sng" cap="none" strike="noStrike">
                <a:solidFill>
                  <a:schemeClr val="hlink"/>
                </a:solidFill>
                <a:latin typeface="Palanquin Dark"/>
                <a:ea typeface="Palanquin Dark"/>
                <a:cs typeface="Palanquin Dark"/>
                <a:sym typeface="Palanquin Dark"/>
                <a:hlinkClick r:id="rId3"/>
              </a:rPr>
              <a:t>https://ftp.gnu.org/old-gnu/Manuals/gdb/html_node/gdb_54.html</a:t>
            </a:r>
            <a:endParaRPr b="0" i="0" sz="1800" u="none" cap="none" strike="noStrike">
              <a:solidFill>
                <a:srgbClr val="000000"/>
              </a:solidFill>
              <a:latin typeface="Palanquin Dark"/>
              <a:ea typeface="Palanquin Dark"/>
              <a:cs typeface="Palanquin Dark"/>
              <a:sym typeface="Palanquin Dark"/>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Palanquin Dark"/>
              <a:ea typeface="Palanquin Dark"/>
              <a:cs typeface="Palanquin Dark"/>
              <a:sym typeface="Palanquin Dark"/>
            </a:endParaRPr>
          </a:p>
        </p:txBody>
      </p:sp>
      <p:pic>
        <p:nvPicPr>
          <p:cNvPr id="293" name="Google Shape;293;p31"/>
          <p:cNvPicPr preferRelativeResize="0"/>
          <p:nvPr/>
        </p:nvPicPr>
        <p:blipFill rotWithShape="1">
          <a:blip r:embed="rId4">
            <a:alphaModFix/>
          </a:blip>
          <a:srcRect b="0" l="0" r="0" t="0"/>
          <a:stretch/>
        </p:blipFill>
        <p:spPr>
          <a:xfrm>
            <a:off x="4507600" y="1802438"/>
            <a:ext cx="3028850" cy="1624575"/>
          </a:xfrm>
          <a:prstGeom prst="rect">
            <a:avLst/>
          </a:prstGeom>
          <a:noFill/>
          <a:ln>
            <a:noFill/>
          </a:ln>
          <a:effectLst>
            <a:outerShdw blurRad="57150" rotWithShape="0" algn="bl" dir="5400000" dist="19050">
              <a:srgbClr val="000000">
                <a:alpha val="49019"/>
              </a:srgbClr>
            </a:outerShdw>
          </a:effectLst>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2"/>
          <p:cNvSpPr txBox="1"/>
          <p:nvPr>
            <p:ph type="ctrTitle"/>
          </p:nvPr>
        </p:nvSpPr>
        <p:spPr>
          <a:xfrm>
            <a:off x="1607550" y="201350"/>
            <a:ext cx="5928900" cy="970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3600"/>
              <a:t>Print</a:t>
            </a:r>
            <a:endParaRPr sz="3600"/>
          </a:p>
        </p:txBody>
      </p:sp>
      <p:sp>
        <p:nvSpPr>
          <p:cNvPr id="299" name="Google Shape;299;p32"/>
          <p:cNvSpPr txBox="1"/>
          <p:nvPr/>
        </p:nvSpPr>
        <p:spPr>
          <a:xfrm>
            <a:off x="1137250" y="1254550"/>
            <a:ext cx="7043400" cy="47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Palanquin Dark"/>
                <a:ea typeface="Palanquin Dark"/>
                <a:cs typeface="Palanquin Dark"/>
                <a:sym typeface="Palanquin Dark"/>
              </a:rPr>
              <a:t>Don't forget the dollar sign when printing a register. Also note that there is no % sign.</a:t>
            </a:r>
            <a:endParaRPr b="0" i="0" sz="1800" u="none" cap="none" strike="noStrike">
              <a:solidFill>
                <a:srgbClr val="000000"/>
              </a:solidFill>
              <a:latin typeface="Palanquin Dark"/>
              <a:ea typeface="Palanquin Dark"/>
              <a:cs typeface="Palanquin Dark"/>
              <a:sym typeface="Palanquin Dark"/>
            </a:endParaRPr>
          </a:p>
        </p:txBody>
      </p:sp>
      <p:sp>
        <p:nvSpPr>
          <p:cNvPr id="300" name="Google Shape;300;p32"/>
          <p:cNvSpPr txBox="1"/>
          <p:nvPr/>
        </p:nvSpPr>
        <p:spPr>
          <a:xfrm>
            <a:off x="1694500" y="2461550"/>
            <a:ext cx="5928900" cy="724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800"/>
              <a:buFont typeface="Arial"/>
              <a:buNone/>
            </a:pPr>
            <a:r>
              <a:rPr b="0" i="0" lang="en" sz="4800" u="none" cap="none" strike="noStrike">
                <a:solidFill>
                  <a:srgbClr val="000000"/>
                </a:solidFill>
                <a:latin typeface="Courier New"/>
                <a:ea typeface="Courier New"/>
                <a:cs typeface="Courier New"/>
                <a:sym typeface="Courier New"/>
              </a:rPr>
              <a:t>p $rax</a:t>
            </a:r>
            <a:endParaRPr b="0" i="1" sz="4800" u="none" cap="none" strike="noStrike">
              <a:solidFill>
                <a:srgbClr val="000000"/>
              </a:solidFill>
              <a:latin typeface="Courier New"/>
              <a:ea typeface="Courier New"/>
              <a:cs typeface="Courier New"/>
              <a:sym typeface="Courier New"/>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3"/>
          <p:cNvSpPr txBox="1"/>
          <p:nvPr>
            <p:ph type="ctrTitle"/>
          </p:nvPr>
        </p:nvSpPr>
        <p:spPr>
          <a:xfrm>
            <a:off x="1607550" y="201350"/>
            <a:ext cx="5928900" cy="970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3600"/>
              <a:t>Examine</a:t>
            </a:r>
            <a:endParaRPr sz="3600"/>
          </a:p>
        </p:txBody>
      </p:sp>
      <p:sp>
        <p:nvSpPr>
          <p:cNvPr id="306" name="Google Shape;306;p33"/>
          <p:cNvSpPr txBox="1"/>
          <p:nvPr/>
        </p:nvSpPr>
        <p:spPr>
          <a:xfrm>
            <a:off x="1137250" y="1254550"/>
            <a:ext cx="7043400" cy="47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Palanquin Dark"/>
                <a:ea typeface="Palanquin Dark"/>
                <a:cs typeface="Palanquin Dark"/>
                <a:sym typeface="Palanquin Dark"/>
              </a:rPr>
              <a:t>Take a look at what an address points to</a:t>
            </a:r>
            <a:endParaRPr b="0" i="0" sz="1800" u="none" cap="none" strike="noStrike">
              <a:solidFill>
                <a:srgbClr val="000000"/>
              </a:solidFill>
              <a:latin typeface="Palanquin Dark"/>
              <a:ea typeface="Palanquin Dark"/>
              <a:cs typeface="Palanquin Dark"/>
              <a:sym typeface="Palanquin Dark"/>
            </a:endParaRPr>
          </a:p>
        </p:txBody>
      </p:sp>
      <p:sp>
        <p:nvSpPr>
          <p:cNvPr id="307" name="Google Shape;307;p33"/>
          <p:cNvSpPr txBox="1"/>
          <p:nvPr/>
        </p:nvSpPr>
        <p:spPr>
          <a:xfrm>
            <a:off x="1694500" y="2081825"/>
            <a:ext cx="5928900" cy="724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800"/>
              <a:buFont typeface="Arial"/>
              <a:buNone/>
            </a:pPr>
            <a:r>
              <a:rPr b="0" i="0" lang="en" sz="4800" u="none" cap="none" strike="noStrike">
                <a:solidFill>
                  <a:srgbClr val="000000"/>
                </a:solidFill>
                <a:latin typeface="Courier New"/>
                <a:ea typeface="Courier New"/>
                <a:cs typeface="Courier New"/>
                <a:sym typeface="Courier New"/>
              </a:rPr>
              <a:t>x/</a:t>
            </a:r>
            <a:r>
              <a:rPr b="0" i="1" lang="en" sz="4800" u="none" cap="none" strike="noStrike">
                <a:solidFill>
                  <a:srgbClr val="000000"/>
                </a:solidFill>
                <a:latin typeface="Courier New"/>
                <a:ea typeface="Courier New"/>
                <a:cs typeface="Courier New"/>
                <a:sym typeface="Courier New"/>
              </a:rPr>
              <a:t>nfu address</a:t>
            </a:r>
            <a:endParaRPr b="0" i="1" sz="4800" u="none" cap="none" strike="noStrike">
              <a:solidFill>
                <a:srgbClr val="000000"/>
              </a:solidFill>
              <a:latin typeface="Courier New"/>
              <a:ea typeface="Courier New"/>
              <a:cs typeface="Courier New"/>
              <a:sym typeface="Courier New"/>
            </a:endParaRPr>
          </a:p>
        </p:txBody>
      </p:sp>
      <p:sp>
        <p:nvSpPr>
          <p:cNvPr id="308" name="Google Shape;308;p33"/>
          <p:cNvSpPr txBox="1"/>
          <p:nvPr/>
        </p:nvSpPr>
        <p:spPr>
          <a:xfrm>
            <a:off x="711500" y="3407925"/>
            <a:ext cx="5928900" cy="724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Arial"/>
              <a:buNone/>
            </a:pPr>
            <a:r>
              <a:rPr b="0" i="0" lang="en" sz="3600" u="none" cap="none" strike="noStrike">
                <a:solidFill>
                  <a:srgbClr val="000000"/>
                </a:solidFill>
                <a:latin typeface="Palanquin Dark"/>
                <a:ea typeface="Palanquin Dark"/>
                <a:cs typeface="Palanquin Dark"/>
                <a:sym typeface="Palanquin Dark"/>
              </a:rPr>
              <a:t>number   format   unit</a:t>
            </a:r>
            <a:endParaRPr b="0" i="1" sz="3600" u="none" cap="none" strike="noStrike">
              <a:solidFill>
                <a:srgbClr val="000000"/>
              </a:solidFill>
              <a:latin typeface="Palanquin Dark"/>
              <a:ea typeface="Palanquin Dark"/>
              <a:cs typeface="Palanquin Dark"/>
              <a:sym typeface="Palanquin Dark"/>
            </a:endParaRPr>
          </a:p>
        </p:txBody>
      </p:sp>
      <p:cxnSp>
        <p:nvCxnSpPr>
          <p:cNvPr id="309" name="Google Shape;309;p33"/>
          <p:cNvCxnSpPr/>
          <p:nvPr/>
        </p:nvCxnSpPr>
        <p:spPr>
          <a:xfrm flipH="1" rot="10800000">
            <a:off x="2209300" y="2841925"/>
            <a:ext cx="886200" cy="621600"/>
          </a:xfrm>
          <a:prstGeom prst="straightConnector1">
            <a:avLst/>
          </a:prstGeom>
          <a:noFill/>
          <a:ln cap="flat" cmpd="sng" w="38100">
            <a:solidFill>
              <a:srgbClr val="FF0000"/>
            </a:solidFill>
            <a:prstDash val="solid"/>
            <a:round/>
            <a:headEnd len="sm" w="sm" type="none"/>
            <a:tailEnd len="med" w="med" type="triangle"/>
          </a:ln>
        </p:spPr>
      </p:cxnSp>
      <p:cxnSp>
        <p:nvCxnSpPr>
          <p:cNvPr id="310" name="Google Shape;310;p33"/>
          <p:cNvCxnSpPr/>
          <p:nvPr/>
        </p:nvCxnSpPr>
        <p:spPr>
          <a:xfrm rot="10800000">
            <a:off x="3555600" y="2864925"/>
            <a:ext cx="552300" cy="621600"/>
          </a:xfrm>
          <a:prstGeom prst="straightConnector1">
            <a:avLst/>
          </a:prstGeom>
          <a:noFill/>
          <a:ln cap="flat" cmpd="sng" w="38100">
            <a:solidFill>
              <a:srgbClr val="FF0000"/>
            </a:solidFill>
            <a:prstDash val="solid"/>
            <a:round/>
            <a:headEnd len="sm" w="sm" type="none"/>
            <a:tailEnd len="med" w="med" type="triangle"/>
          </a:ln>
        </p:spPr>
      </p:cxnSp>
      <p:cxnSp>
        <p:nvCxnSpPr>
          <p:cNvPr id="311" name="Google Shape;311;p33"/>
          <p:cNvCxnSpPr/>
          <p:nvPr/>
        </p:nvCxnSpPr>
        <p:spPr>
          <a:xfrm rot="10800000">
            <a:off x="4131100" y="2910975"/>
            <a:ext cx="1346100" cy="656100"/>
          </a:xfrm>
          <a:prstGeom prst="straightConnector1">
            <a:avLst/>
          </a:prstGeom>
          <a:noFill/>
          <a:ln cap="flat" cmpd="sng" w="38100">
            <a:solidFill>
              <a:srgbClr val="FF0000"/>
            </a:solidFill>
            <a:prstDash val="solid"/>
            <a:round/>
            <a:headEnd len="sm" w="sm" type="none"/>
            <a:tailEnd len="med" w="med" type="triangle"/>
          </a:ln>
        </p:spPr>
      </p:cxn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4"/>
          <p:cNvSpPr txBox="1"/>
          <p:nvPr>
            <p:ph type="ctrTitle"/>
          </p:nvPr>
        </p:nvSpPr>
        <p:spPr>
          <a:xfrm>
            <a:off x="1607550" y="201350"/>
            <a:ext cx="5928900" cy="970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3600"/>
              <a:t>Examine</a:t>
            </a:r>
            <a:endParaRPr sz="3600"/>
          </a:p>
        </p:txBody>
      </p:sp>
      <p:sp>
        <p:nvSpPr>
          <p:cNvPr id="317" name="Google Shape;317;p34"/>
          <p:cNvSpPr txBox="1"/>
          <p:nvPr/>
        </p:nvSpPr>
        <p:spPr>
          <a:xfrm>
            <a:off x="1137250" y="1254550"/>
            <a:ext cx="7043400" cy="3106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Palanquin Dark"/>
                <a:ea typeface="Palanquin Dark"/>
                <a:cs typeface="Palanquin Dark"/>
                <a:sym typeface="Palanquin Dark"/>
              </a:rPr>
              <a:t>The </a:t>
            </a:r>
            <a:r>
              <a:rPr b="0" i="1" lang="en" sz="1800" u="none" cap="none" strike="noStrike">
                <a:solidFill>
                  <a:srgbClr val="000000"/>
                </a:solidFill>
                <a:latin typeface="Palanquin Dark"/>
                <a:ea typeface="Palanquin Dark"/>
                <a:cs typeface="Palanquin Dark"/>
                <a:sym typeface="Palanquin Dark"/>
              </a:rPr>
              <a:t>nfu </a:t>
            </a:r>
            <a:r>
              <a:rPr b="0" i="0" lang="en" sz="1800" u="none" cap="none" strike="noStrike">
                <a:solidFill>
                  <a:srgbClr val="000000"/>
                </a:solidFill>
                <a:latin typeface="Palanquin Dark"/>
                <a:ea typeface="Palanquin Dark"/>
                <a:cs typeface="Palanquin Dark"/>
                <a:sym typeface="Palanquin Dark"/>
              </a:rPr>
              <a:t>options are optional, and default values will be passed in if you don't have one or more of the characters.</a:t>
            </a:r>
            <a:endParaRPr b="0" i="0" sz="1800" u="none" cap="none" strike="noStrike">
              <a:solidFill>
                <a:srgbClr val="000000"/>
              </a:solidFill>
              <a:latin typeface="Palanquin Dark"/>
              <a:ea typeface="Palanquin Dark"/>
              <a:cs typeface="Palanquin Dark"/>
              <a:sym typeface="Palanquin Dark"/>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Palanquin Dark"/>
              <a:ea typeface="Palanquin Dark"/>
              <a:cs typeface="Palanquin Dark"/>
              <a:sym typeface="Palanquin Dark"/>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Palanquin Dark"/>
                <a:ea typeface="Palanquin Dark"/>
                <a:cs typeface="Palanquin Dark"/>
                <a:sym typeface="Palanquin Dark"/>
              </a:rPr>
              <a:t>Some particularly useful formatting characters for x:</a:t>
            </a:r>
            <a:endParaRPr b="0" i="0" sz="1800" u="none" cap="none" strike="noStrike">
              <a:solidFill>
                <a:srgbClr val="000000"/>
              </a:solidFill>
              <a:latin typeface="Palanquin Dark"/>
              <a:ea typeface="Palanquin Dark"/>
              <a:cs typeface="Palanquin Dark"/>
              <a:sym typeface="Palanquin Dark"/>
            </a:endParaRPr>
          </a:p>
          <a:p>
            <a:pPr indent="-342900" lvl="0" marL="457200" marR="0" rtl="0" algn="l">
              <a:lnSpc>
                <a:spcPct val="100000"/>
              </a:lnSpc>
              <a:spcBef>
                <a:spcPts val="0"/>
              </a:spcBef>
              <a:spcAft>
                <a:spcPts val="0"/>
              </a:spcAft>
              <a:buClr>
                <a:srgbClr val="000000"/>
              </a:buClr>
              <a:buSzPts val="1800"/>
              <a:buFont typeface="Palanquin Dark"/>
              <a:buChar char="●"/>
            </a:pPr>
            <a:r>
              <a:rPr b="0" i="0" lang="en" sz="1800" u="none" cap="none" strike="noStrike">
                <a:solidFill>
                  <a:srgbClr val="000000"/>
                </a:solidFill>
                <a:latin typeface="Courier New"/>
                <a:ea typeface="Courier New"/>
                <a:cs typeface="Courier New"/>
                <a:sym typeface="Courier New"/>
              </a:rPr>
              <a:t>s</a:t>
            </a:r>
            <a:r>
              <a:rPr b="0" i="0" lang="en" sz="1800" u="none" cap="none" strike="noStrike">
                <a:solidFill>
                  <a:srgbClr val="000000"/>
                </a:solidFill>
                <a:latin typeface="Palanquin Dark"/>
                <a:ea typeface="Palanquin Dark"/>
                <a:cs typeface="Palanquin Dark"/>
                <a:sym typeface="Palanquin Dark"/>
              </a:rPr>
              <a:t>  string</a:t>
            </a:r>
            <a:endParaRPr b="0" i="0" sz="1800" u="none" cap="none" strike="noStrike">
              <a:solidFill>
                <a:srgbClr val="000000"/>
              </a:solidFill>
              <a:latin typeface="Palanquin Dark"/>
              <a:ea typeface="Palanquin Dark"/>
              <a:cs typeface="Palanquin Dark"/>
              <a:sym typeface="Palanquin Dark"/>
            </a:endParaRPr>
          </a:p>
          <a:p>
            <a:pPr indent="-342900" lvl="0" marL="457200" marR="0" rtl="0" algn="l">
              <a:lnSpc>
                <a:spcPct val="100000"/>
              </a:lnSpc>
              <a:spcBef>
                <a:spcPts val="0"/>
              </a:spcBef>
              <a:spcAft>
                <a:spcPts val="0"/>
              </a:spcAft>
              <a:buClr>
                <a:srgbClr val="000000"/>
              </a:buClr>
              <a:buSzPts val="1800"/>
              <a:buFont typeface="Palanquin Dark"/>
              <a:buChar char="●"/>
            </a:pPr>
            <a:r>
              <a:rPr b="0" i="0" lang="en" sz="1800" u="none" cap="none" strike="noStrike">
                <a:solidFill>
                  <a:srgbClr val="000000"/>
                </a:solidFill>
                <a:latin typeface="Courier New"/>
                <a:ea typeface="Courier New"/>
                <a:cs typeface="Courier New"/>
                <a:sym typeface="Courier New"/>
              </a:rPr>
              <a:t>i</a:t>
            </a:r>
            <a:r>
              <a:rPr b="0" i="0" lang="en" sz="1800" u="none" cap="none" strike="noStrike">
                <a:solidFill>
                  <a:srgbClr val="000000"/>
                </a:solidFill>
                <a:latin typeface="Palanquin Dark"/>
                <a:ea typeface="Palanquin Dark"/>
                <a:cs typeface="Palanquin Dark"/>
                <a:sym typeface="Palanquin Dark"/>
              </a:rPr>
              <a:t>  instruction</a:t>
            </a:r>
            <a:endParaRPr b="0" i="0" sz="1800" u="none" cap="none" strike="noStrike">
              <a:solidFill>
                <a:srgbClr val="000000"/>
              </a:solidFill>
              <a:latin typeface="Palanquin Dark"/>
              <a:ea typeface="Palanquin Dark"/>
              <a:cs typeface="Palanquin Dark"/>
              <a:sym typeface="Palanquin Dark"/>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5"/>
          <p:cNvSpPr txBox="1"/>
          <p:nvPr>
            <p:ph type="ctrTitle"/>
          </p:nvPr>
        </p:nvSpPr>
        <p:spPr>
          <a:xfrm>
            <a:off x="1607550" y="201350"/>
            <a:ext cx="5928900" cy="970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3600"/>
              <a:t>Examine</a:t>
            </a:r>
            <a:endParaRPr sz="3600"/>
          </a:p>
        </p:txBody>
      </p:sp>
      <p:sp>
        <p:nvSpPr>
          <p:cNvPr id="323" name="Google Shape;323;p35"/>
          <p:cNvSpPr txBox="1"/>
          <p:nvPr/>
        </p:nvSpPr>
        <p:spPr>
          <a:xfrm>
            <a:off x="1137250" y="1254550"/>
            <a:ext cx="7043400" cy="8742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rgbClr val="000000"/>
              </a:buClr>
              <a:buSzPts val="1800"/>
              <a:buFont typeface="Palanquin Dark"/>
              <a:buChar char="●"/>
            </a:pPr>
            <a:r>
              <a:rPr b="0" i="0" lang="en" sz="1800" u="none" cap="none" strike="noStrike">
                <a:solidFill>
                  <a:srgbClr val="000000"/>
                </a:solidFill>
                <a:latin typeface="Palanquin Dark"/>
                <a:ea typeface="Palanquin Dark"/>
                <a:cs typeface="Palanquin Dark"/>
                <a:sym typeface="Palanquin Dark"/>
              </a:rPr>
              <a:t>Example:</a:t>
            </a:r>
            <a:endParaRPr b="0" i="0" sz="1800" u="none" cap="none" strike="noStrike">
              <a:solidFill>
                <a:srgbClr val="000000"/>
              </a:solidFill>
              <a:latin typeface="Palanquin Dark"/>
              <a:ea typeface="Palanquin Dark"/>
              <a:cs typeface="Palanquin Dark"/>
              <a:sym typeface="Palanquin Dark"/>
            </a:endParaRPr>
          </a:p>
          <a:p>
            <a:pPr indent="-342900" lvl="1" marL="914400" marR="0" rtl="0" algn="l">
              <a:lnSpc>
                <a:spcPct val="100000"/>
              </a:lnSpc>
              <a:spcBef>
                <a:spcPts val="0"/>
              </a:spcBef>
              <a:spcAft>
                <a:spcPts val="0"/>
              </a:spcAft>
              <a:buClr>
                <a:srgbClr val="000000"/>
              </a:buClr>
              <a:buSzPts val="1800"/>
              <a:buFont typeface="Palanquin Dark"/>
              <a:buChar char="○"/>
            </a:pPr>
            <a:r>
              <a:rPr b="0" i="0" lang="en" sz="1800" u="none" cap="none" strike="noStrike">
                <a:solidFill>
                  <a:srgbClr val="000000"/>
                </a:solidFill>
                <a:latin typeface="Palanquin Dark"/>
                <a:ea typeface="Palanquin Dark"/>
                <a:cs typeface="Palanquin Dark"/>
                <a:sym typeface="Palanquin Dark"/>
              </a:rPr>
              <a:t>View 10 instructions from the current instruction</a:t>
            </a:r>
            <a:endParaRPr b="0" i="0" sz="1800" u="none" cap="none" strike="noStrike">
              <a:solidFill>
                <a:srgbClr val="000000"/>
              </a:solidFill>
              <a:latin typeface="Palanquin Dark"/>
              <a:ea typeface="Palanquin Dark"/>
              <a:cs typeface="Palanquin Dark"/>
              <a:sym typeface="Palanquin Dark"/>
            </a:endParaRPr>
          </a:p>
        </p:txBody>
      </p:sp>
      <p:sp>
        <p:nvSpPr>
          <p:cNvPr id="324" name="Google Shape;324;p35"/>
          <p:cNvSpPr txBox="1"/>
          <p:nvPr/>
        </p:nvSpPr>
        <p:spPr>
          <a:xfrm>
            <a:off x="2527013" y="2128750"/>
            <a:ext cx="3980400" cy="87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n" sz="4800" u="none" cap="none" strike="noStrike">
                <a:solidFill>
                  <a:srgbClr val="000000"/>
                </a:solidFill>
                <a:latin typeface="Courier New"/>
                <a:ea typeface="Courier New"/>
                <a:cs typeface="Courier New"/>
                <a:sym typeface="Courier New"/>
              </a:rPr>
              <a:t>x/10i $rip</a:t>
            </a:r>
            <a:endParaRPr b="0" i="0" sz="4800" u="none" cap="none" strike="noStrike">
              <a:solidFill>
                <a:srgbClr val="000000"/>
              </a:solidFill>
              <a:latin typeface="Courier New"/>
              <a:ea typeface="Courier New"/>
              <a:cs typeface="Courier New"/>
              <a:sym typeface="Courier New"/>
            </a:endParaRPr>
          </a:p>
        </p:txBody>
      </p:sp>
      <p:sp>
        <p:nvSpPr>
          <p:cNvPr id="325" name="Google Shape;325;p35"/>
          <p:cNvSpPr txBox="1"/>
          <p:nvPr/>
        </p:nvSpPr>
        <p:spPr>
          <a:xfrm>
            <a:off x="2203938" y="3446125"/>
            <a:ext cx="1323300" cy="87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alanquin Dark"/>
                <a:ea typeface="Palanquin Dark"/>
                <a:cs typeface="Palanquin Dark"/>
                <a:sym typeface="Palanquin Dark"/>
              </a:rPr>
              <a:t>If you don't put a number, it will default to 1.</a:t>
            </a:r>
            <a:endParaRPr b="0" i="0" sz="1400" u="none" cap="none" strike="noStrike">
              <a:solidFill>
                <a:srgbClr val="000000"/>
              </a:solidFill>
              <a:latin typeface="Palanquin Dark"/>
              <a:ea typeface="Palanquin Dark"/>
              <a:cs typeface="Palanquin Dark"/>
              <a:sym typeface="Palanquin Dark"/>
            </a:endParaRPr>
          </a:p>
        </p:txBody>
      </p:sp>
      <p:sp>
        <p:nvSpPr>
          <p:cNvPr id="326" name="Google Shape;326;p35"/>
          <p:cNvSpPr txBox="1"/>
          <p:nvPr/>
        </p:nvSpPr>
        <p:spPr>
          <a:xfrm>
            <a:off x="3587538" y="3342550"/>
            <a:ext cx="1596600" cy="87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alanquin Dark"/>
                <a:ea typeface="Palanquin Dark"/>
                <a:cs typeface="Palanquin Dark"/>
                <a:sym typeface="Palanquin Dark"/>
              </a:rPr>
              <a:t>gdb will default to the last format you used if no format is specified</a:t>
            </a:r>
            <a:endParaRPr b="0" i="0" sz="1400" u="none" cap="none" strike="noStrike">
              <a:solidFill>
                <a:srgbClr val="000000"/>
              </a:solidFill>
              <a:latin typeface="Palanquin Dark"/>
              <a:ea typeface="Palanquin Dark"/>
              <a:cs typeface="Palanquin Dark"/>
              <a:sym typeface="Palanquin Dark"/>
            </a:endParaRPr>
          </a:p>
        </p:txBody>
      </p:sp>
      <p:sp>
        <p:nvSpPr>
          <p:cNvPr id="327" name="Google Shape;327;p35"/>
          <p:cNvSpPr txBox="1"/>
          <p:nvPr/>
        </p:nvSpPr>
        <p:spPr>
          <a:xfrm>
            <a:off x="5517363" y="3400075"/>
            <a:ext cx="1596600" cy="87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Palanquin Dark"/>
                <a:ea typeface="Palanquin Dark"/>
                <a:cs typeface="Palanquin Dark"/>
                <a:sym typeface="Palanquin Dark"/>
              </a:rPr>
              <a:t>$pc</a:t>
            </a:r>
            <a:r>
              <a:rPr b="0" i="0" lang="en" sz="1400" u="none" cap="none" strike="noStrike">
                <a:solidFill>
                  <a:srgbClr val="000000"/>
                </a:solidFill>
                <a:latin typeface="Palanquin Dark"/>
                <a:ea typeface="Palanquin Dark"/>
                <a:cs typeface="Palanquin Dark"/>
                <a:sym typeface="Palanquin Dark"/>
              </a:rPr>
              <a:t> (for program counter) is the same as </a:t>
            </a:r>
            <a:r>
              <a:rPr b="0" i="1" lang="en" sz="1400" u="none" cap="none" strike="noStrike">
                <a:solidFill>
                  <a:srgbClr val="000000"/>
                </a:solidFill>
                <a:latin typeface="Palanquin Dark"/>
                <a:ea typeface="Palanquin Dark"/>
                <a:cs typeface="Palanquin Dark"/>
                <a:sym typeface="Palanquin Dark"/>
              </a:rPr>
              <a:t>$rip</a:t>
            </a:r>
            <a:r>
              <a:rPr b="0" i="0" lang="en" sz="1400" u="none" cap="none" strike="noStrike">
                <a:solidFill>
                  <a:srgbClr val="000000"/>
                </a:solidFill>
                <a:latin typeface="Palanquin Dark"/>
                <a:ea typeface="Palanquin Dark"/>
                <a:cs typeface="Palanquin Dark"/>
                <a:sym typeface="Palanquin Dark"/>
              </a:rPr>
              <a:t> if you want to type one less character.</a:t>
            </a:r>
            <a:endParaRPr b="0" i="0" sz="1400" u="none" cap="none" strike="noStrike">
              <a:solidFill>
                <a:srgbClr val="000000"/>
              </a:solidFill>
              <a:latin typeface="Palanquin Dark"/>
              <a:ea typeface="Palanquin Dark"/>
              <a:cs typeface="Palanquin Dark"/>
              <a:sym typeface="Palanquin Dark"/>
            </a:endParaRPr>
          </a:p>
        </p:txBody>
      </p:sp>
      <p:cxnSp>
        <p:nvCxnSpPr>
          <p:cNvPr id="328" name="Google Shape;328;p35"/>
          <p:cNvCxnSpPr/>
          <p:nvPr/>
        </p:nvCxnSpPr>
        <p:spPr>
          <a:xfrm flipH="1" rot="10800000">
            <a:off x="2701338" y="2962825"/>
            <a:ext cx="894900" cy="483300"/>
          </a:xfrm>
          <a:prstGeom prst="straightConnector1">
            <a:avLst/>
          </a:prstGeom>
          <a:noFill/>
          <a:ln cap="flat" cmpd="sng" w="38100">
            <a:solidFill>
              <a:srgbClr val="FF0000"/>
            </a:solidFill>
            <a:prstDash val="solid"/>
            <a:round/>
            <a:headEnd len="sm" w="sm" type="none"/>
            <a:tailEnd len="med" w="med" type="triangle"/>
          </a:ln>
        </p:spPr>
      </p:cxnSp>
      <p:cxnSp>
        <p:nvCxnSpPr>
          <p:cNvPr id="329" name="Google Shape;329;p35"/>
          <p:cNvCxnSpPr/>
          <p:nvPr/>
        </p:nvCxnSpPr>
        <p:spPr>
          <a:xfrm flipH="1" rot="10800000">
            <a:off x="4091038" y="2928175"/>
            <a:ext cx="149700" cy="471900"/>
          </a:xfrm>
          <a:prstGeom prst="straightConnector1">
            <a:avLst/>
          </a:prstGeom>
          <a:noFill/>
          <a:ln cap="flat" cmpd="sng" w="38100">
            <a:solidFill>
              <a:srgbClr val="FF0000"/>
            </a:solidFill>
            <a:prstDash val="solid"/>
            <a:round/>
            <a:headEnd len="sm" w="sm" type="none"/>
            <a:tailEnd len="med" w="med" type="triangle"/>
          </a:ln>
        </p:spPr>
      </p:cxnSp>
      <p:cxnSp>
        <p:nvCxnSpPr>
          <p:cNvPr id="330" name="Google Shape;330;p35"/>
          <p:cNvCxnSpPr>
            <a:stCxn id="327" idx="0"/>
          </p:cNvCxnSpPr>
          <p:nvPr/>
        </p:nvCxnSpPr>
        <p:spPr>
          <a:xfrm rot="10800000">
            <a:off x="5690463" y="2971375"/>
            <a:ext cx="625200" cy="428700"/>
          </a:xfrm>
          <a:prstGeom prst="straightConnector1">
            <a:avLst/>
          </a:prstGeom>
          <a:noFill/>
          <a:ln cap="flat" cmpd="sng" w="38100">
            <a:solidFill>
              <a:srgbClr val="FF0000"/>
            </a:solidFill>
            <a:prstDash val="solid"/>
            <a:round/>
            <a:headEnd len="sm" w="sm" type="none"/>
            <a:tailEnd len="med" w="med" type="triangle"/>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6"/>
          <p:cNvSpPr txBox="1"/>
          <p:nvPr>
            <p:ph type="ctrTitle"/>
          </p:nvPr>
        </p:nvSpPr>
        <p:spPr>
          <a:xfrm>
            <a:off x="1607550" y="201350"/>
            <a:ext cx="5928900" cy="970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3600"/>
              <a:t>Examine</a:t>
            </a:r>
            <a:endParaRPr sz="3600"/>
          </a:p>
        </p:txBody>
      </p:sp>
      <p:sp>
        <p:nvSpPr>
          <p:cNvPr id="336" name="Google Shape;336;p36"/>
          <p:cNvSpPr txBox="1"/>
          <p:nvPr/>
        </p:nvSpPr>
        <p:spPr>
          <a:xfrm>
            <a:off x="1137250" y="1254550"/>
            <a:ext cx="7043400" cy="8742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rgbClr val="000000"/>
              </a:buClr>
              <a:buSzPts val="1800"/>
              <a:buFont typeface="Palanquin Dark"/>
              <a:buChar char="●"/>
            </a:pPr>
            <a:r>
              <a:rPr b="0" i="0" lang="en" sz="1800" u="none" cap="none" strike="noStrike">
                <a:solidFill>
                  <a:srgbClr val="000000"/>
                </a:solidFill>
                <a:latin typeface="Palanquin Dark"/>
                <a:ea typeface="Palanquin Dark"/>
                <a:cs typeface="Palanquin Dark"/>
                <a:sym typeface="Palanquin Dark"/>
              </a:rPr>
              <a:t>Example:</a:t>
            </a:r>
            <a:endParaRPr b="0" i="0" sz="1800" u="none" cap="none" strike="noStrike">
              <a:solidFill>
                <a:srgbClr val="000000"/>
              </a:solidFill>
              <a:latin typeface="Palanquin Dark"/>
              <a:ea typeface="Palanquin Dark"/>
              <a:cs typeface="Palanquin Dark"/>
              <a:sym typeface="Palanquin Dark"/>
            </a:endParaRPr>
          </a:p>
          <a:p>
            <a:pPr indent="-342900" lvl="1" marL="914400" marR="0" rtl="0" algn="l">
              <a:lnSpc>
                <a:spcPct val="100000"/>
              </a:lnSpc>
              <a:spcBef>
                <a:spcPts val="0"/>
              </a:spcBef>
              <a:spcAft>
                <a:spcPts val="0"/>
              </a:spcAft>
              <a:buClr>
                <a:srgbClr val="000000"/>
              </a:buClr>
              <a:buSzPts val="1800"/>
              <a:buFont typeface="Palanquin Dark"/>
              <a:buChar char="○"/>
            </a:pPr>
            <a:r>
              <a:rPr b="0" i="0" lang="en" sz="1800" u="none" cap="none" strike="noStrike">
                <a:solidFill>
                  <a:srgbClr val="000000"/>
                </a:solidFill>
                <a:latin typeface="Palanquin Dark"/>
                <a:ea typeface="Palanquin Dark"/>
                <a:cs typeface="Palanquin Dark"/>
                <a:sym typeface="Palanquin Dark"/>
              </a:rPr>
              <a:t>View 10 instructions from the current instruction</a:t>
            </a:r>
            <a:endParaRPr b="0" i="0" sz="1800" u="none" cap="none" strike="noStrike">
              <a:solidFill>
                <a:srgbClr val="000000"/>
              </a:solidFill>
              <a:latin typeface="Palanquin Dark"/>
              <a:ea typeface="Palanquin Dark"/>
              <a:cs typeface="Palanquin Dark"/>
              <a:sym typeface="Palanquin Dark"/>
            </a:endParaRPr>
          </a:p>
        </p:txBody>
      </p:sp>
      <p:pic>
        <p:nvPicPr>
          <p:cNvPr id="337" name="Google Shape;337;p36"/>
          <p:cNvPicPr preferRelativeResize="0"/>
          <p:nvPr/>
        </p:nvPicPr>
        <p:blipFill rotWithShape="1">
          <a:blip r:embed="rId3">
            <a:alphaModFix/>
          </a:blip>
          <a:srcRect b="0" l="0" r="0" t="0"/>
          <a:stretch/>
        </p:blipFill>
        <p:spPr>
          <a:xfrm>
            <a:off x="1050300" y="2128758"/>
            <a:ext cx="7043400" cy="1942569"/>
          </a:xfrm>
          <a:prstGeom prst="rect">
            <a:avLst/>
          </a:prstGeom>
          <a:noFill/>
          <a:ln>
            <a:noFill/>
          </a:ln>
          <a:effectLst>
            <a:outerShdw blurRad="57150" rotWithShape="0" algn="bl" dir="5400000" dist="19050">
              <a:srgbClr val="000000">
                <a:alpha val="49019"/>
              </a:srgbClr>
            </a:outerShdw>
          </a:effectLst>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7"/>
          <p:cNvSpPr txBox="1"/>
          <p:nvPr>
            <p:ph type="ctrTitle"/>
          </p:nvPr>
        </p:nvSpPr>
        <p:spPr>
          <a:xfrm>
            <a:off x="1607550" y="201350"/>
            <a:ext cx="5928900" cy="970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3600"/>
              <a:t>Examine</a:t>
            </a:r>
            <a:endParaRPr sz="3600"/>
          </a:p>
        </p:txBody>
      </p:sp>
      <p:sp>
        <p:nvSpPr>
          <p:cNvPr id="343" name="Google Shape;343;p37"/>
          <p:cNvSpPr txBox="1"/>
          <p:nvPr/>
        </p:nvSpPr>
        <p:spPr>
          <a:xfrm>
            <a:off x="1137250" y="1254550"/>
            <a:ext cx="7043400" cy="19443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rgbClr val="000000"/>
              </a:buClr>
              <a:buSzPts val="1800"/>
              <a:buFont typeface="Palanquin Dark"/>
              <a:buChar char="●"/>
            </a:pPr>
            <a:r>
              <a:rPr b="0" i="0" lang="en" sz="1800" u="none" cap="none" strike="noStrike">
                <a:solidFill>
                  <a:srgbClr val="000000"/>
                </a:solidFill>
                <a:latin typeface="Palanquin Dark"/>
                <a:ea typeface="Palanquin Dark"/>
                <a:cs typeface="Palanquin Dark"/>
                <a:sym typeface="Palanquin Dark"/>
              </a:rPr>
              <a:t>Example:</a:t>
            </a:r>
            <a:endParaRPr b="0" i="0" sz="1800" u="none" cap="none" strike="noStrike">
              <a:solidFill>
                <a:srgbClr val="000000"/>
              </a:solidFill>
              <a:latin typeface="Palanquin Dark"/>
              <a:ea typeface="Palanquin Dark"/>
              <a:cs typeface="Palanquin Dark"/>
              <a:sym typeface="Palanquin Dark"/>
            </a:endParaRPr>
          </a:p>
          <a:p>
            <a:pPr indent="-342900" lvl="1" marL="914400" marR="0" rtl="0" algn="l">
              <a:lnSpc>
                <a:spcPct val="100000"/>
              </a:lnSpc>
              <a:spcBef>
                <a:spcPts val="0"/>
              </a:spcBef>
              <a:spcAft>
                <a:spcPts val="0"/>
              </a:spcAft>
              <a:buClr>
                <a:srgbClr val="000000"/>
              </a:buClr>
              <a:buSzPts val="1800"/>
              <a:buFont typeface="Palanquin Dark"/>
              <a:buChar char="○"/>
            </a:pPr>
            <a:r>
              <a:rPr b="0" i="0" lang="en" sz="1800" u="none" cap="none" strike="noStrike">
                <a:solidFill>
                  <a:srgbClr val="000000"/>
                </a:solidFill>
                <a:latin typeface="Palanquin Dark"/>
                <a:ea typeface="Palanquin Dark"/>
                <a:cs typeface="Palanquin Dark"/>
                <a:sym typeface="Palanquin Dark"/>
              </a:rPr>
              <a:t>View 20 bytes in hexadecimal at a particular address (b stands for bytes, it is often the default)</a:t>
            </a:r>
            <a:endParaRPr b="0" i="0" sz="1800" u="none" cap="none" strike="noStrike">
              <a:solidFill>
                <a:srgbClr val="000000"/>
              </a:solidFill>
              <a:latin typeface="Palanquin Dark"/>
              <a:ea typeface="Palanquin Dark"/>
              <a:cs typeface="Palanquin Dark"/>
              <a:sym typeface="Palanquin Dark"/>
            </a:endParaRPr>
          </a:p>
        </p:txBody>
      </p:sp>
      <p:sp>
        <p:nvSpPr>
          <p:cNvPr id="344" name="Google Shape;344;p37"/>
          <p:cNvSpPr txBox="1"/>
          <p:nvPr/>
        </p:nvSpPr>
        <p:spPr>
          <a:xfrm>
            <a:off x="2428900" y="2249725"/>
            <a:ext cx="4460100" cy="87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000000"/>
                </a:solidFill>
                <a:latin typeface="Courier New"/>
                <a:ea typeface="Courier New"/>
                <a:cs typeface="Courier New"/>
                <a:sym typeface="Courier New"/>
              </a:rPr>
              <a:t>x/20xb 0x402c30</a:t>
            </a:r>
            <a:endParaRPr b="0" i="0" sz="3600" u="none" cap="none" strike="noStrike">
              <a:solidFill>
                <a:srgbClr val="000000"/>
              </a:solidFill>
              <a:latin typeface="Courier New"/>
              <a:ea typeface="Courier New"/>
              <a:cs typeface="Courier New"/>
              <a:sym typeface="Courier New"/>
            </a:endParaRPr>
          </a:p>
        </p:txBody>
      </p:sp>
      <p:pic>
        <p:nvPicPr>
          <p:cNvPr id="345" name="Google Shape;345;p37"/>
          <p:cNvPicPr preferRelativeResize="0"/>
          <p:nvPr/>
        </p:nvPicPr>
        <p:blipFill rotWithShape="1">
          <a:blip r:embed="rId3">
            <a:alphaModFix/>
          </a:blip>
          <a:srcRect b="0" l="0" r="0" t="0"/>
          <a:stretch/>
        </p:blipFill>
        <p:spPr>
          <a:xfrm>
            <a:off x="688288" y="3385775"/>
            <a:ext cx="7767426" cy="874200"/>
          </a:xfrm>
          <a:prstGeom prst="rect">
            <a:avLst/>
          </a:prstGeom>
          <a:noFill/>
          <a:ln>
            <a:noFill/>
          </a:ln>
          <a:effectLst>
            <a:outerShdw blurRad="57150" rotWithShape="0" algn="bl" dir="5400000" dist="19050">
              <a:srgbClr val="000000">
                <a:alpha val="49019"/>
              </a:srgbClr>
            </a:outerShdw>
          </a:effectLst>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8"/>
          <p:cNvSpPr txBox="1"/>
          <p:nvPr>
            <p:ph type="ctrTitle"/>
          </p:nvPr>
        </p:nvSpPr>
        <p:spPr>
          <a:xfrm>
            <a:off x="1607550" y="201350"/>
            <a:ext cx="5928900" cy="970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3600"/>
              <a:t>Examine</a:t>
            </a:r>
            <a:endParaRPr sz="3600"/>
          </a:p>
        </p:txBody>
      </p:sp>
      <p:sp>
        <p:nvSpPr>
          <p:cNvPr id="351" name="Google Shape;351;p38"/>
          <p:cNvSpPr txBox="1"/>
          <p:nvPr/>
        </p:nvSpPr>
        <p:spPr>
          <a:xfrm>
            <a:off x="1137250" y="1254550"/>
            <a:ext cx="7043400" cy="34401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rgbClr val="000000"/>
              </a:buClr>
              <a:buSzPts val="1800"/>
              <a:buFont typeface="Palanquin Dark"/>
              <a:buChar char="●"/>
            </a:pPr>
            <a:r>
              <a:rPr b="0" i="0" lang="en" sz="1800" u="none" cap="none" strike="noStrike">
                <a:solidFill>
                  <a:srgbClr val="000000"/>
                </a:solidFill>
                <a:latin typeface="Palanquin Dark"/>
                <a:ea typeface="Palanquin Dark"/>
                <a:cs typeface="Palanquin Dark"/>
                <a:sym typeface="Palanquin Dark"/>
              </a:rPr>
              <a:t>Example:</a:t>
            </a:r>
            <a:endParaRPr b="0" i="0" sz="1800" u="none" cap="none" strike="noStrike">
              <a:solidFill>
                <a:srgbClr val="000000"/>
              </a:solidFill>
              <a:latin typeface="Palanquin Dark"/>
              <a:ea typeface="Palanquin Dark"/>
              <a:cs typeface="Palanquin Dark"/>
              <a:sym typeface="Palanquin Dark"/>
            </a:endParaRPr>
          </a:p>
          <a:p>
            <a:pPr indent="-342900" lvl="1" marL="914400" marR="0" rtl="0" algn="l">
              <a:lnSpc>
                <a:spcPct val="100000"/>
              </a:lnSpc>
              <a:spcBef>
                <a:spcPts val="0"/>
              </a:spcBef>
              <a:spcAft>
                <a:spcPts val="0"/>
              </a:spcAft>
              <a:buClr>
                <a:srgbClr val="000000"/>
              </a:buClr>
              <a:buSzPts val="1800"/>
              <a:buFont typeface="Palanquin Dark"/>
              <a:buChar char="○"/>
            </a:pPr>
            <a:r>
              <a:rPr b="0" i="0" lang="en" sz="1800" u="none" cap="none" strike="noStrike">
                <a:solidFill>
                  <a:srgbClr val="000000"/>
                </a:solidFill>
                <a:latin typeface="Palanquin Dark"/>
                <a:ea typeface="Palanquin Dark"/>
                <a:cs typeface="Palanquin Dark"/>
                <a:sym typeface="Palanquin Dark"/>
              </a:rPr>
              <a:t>View string stored at particular address</a:t>
            </a:r>
            <a:endParaRPr b="0" i="0" sz="1800" u="none" cap="none" strike="noStrike">
              <a:solidFill>
                <a:srgbClr val="000000"/>
              </a:solidFill>
              <a:latin typeface="Palanquin Dark"/>
              <a:ea typeface="Palanquin Dark"/>
              <a:cs typeface="Palanquin Dark"/>
              <a:sym typeface="Palanquin Dark"/>
            </a:endParaRPr>
          </a:p>
          <a:p>
            <a:pPr indent="-342900" lvl="1" marL="914400" marR="0" rtl="0" algn="l">
              <a:lnSpc>
                <a:spcPct val="100000"/>
              </a:lnSpc>
              <a:spcBef>
                <a:spcPts val="0"/>
              </a:spcBef>
              <a:spcAft>
                <a:spcPts val="0"/>
              </a:spcAft>
              <a:buClr>
                <a:srgbClr val="000000"/>
              </a:buClr>
              <a:buSzPts val="1800"/>
              <a:buFont typeface="Palanquin Dark"/>
              <a:buChar char="○"/>
            </a:pPr>
            <a:r>
              <a:rPr b="0" i="0" lang="en" sz="1800" u="none" cap="none" strike="noStrike">
                <a:solidFill>
                  <a:srgbClr val="000000"/>
                </a:solidFill>
                <a:latin typeface="Palanquin Dark"/>
                <a:ea typeface="Palanquin Dark"/>
                <a:cs typeface="Palanquin Dark"/>
                <a:sym typeface="Palanquin Dark"/>
              </a:rPr>
              <a:t>From running the previous command, I know that </a:t>
            </a:r>
            <a:r>
              <a:rPr b="0" i="0" lang="en" sz="1800" u="none" cap="none" strike="noStrike">
                <a:solidFill>
                  <a:srgbClr val="000000"/>
                </a:solidFill>
                <a:latin typeface="Courier New"/>
                <a:ea typeface="Courier New"/>
                <a:cs typeface="Courier New"/>
                <a:sym typeface="Courier New"/>
              </a:rPr>
              <a:t>0x402c30 </a:t>
            </a:r>
            <a:r>
              <a:rPr b="0" i="0" lang="en" sz="1800" u="none" cap="none" strike="noStrike">
                <a:solidFill>
                  <a:srgbClr val="000000"/>
                </a:solidFill>
                <a:latin typeface="Palanquin Dark"/>
                <a:ea typeface="Palanquin Dark"/>
                <a:cs typeface="Palanquin Dark"/>
                <a:sym typeface="Palanquin Dark"/>
              </a:rPr>
              <a:t>is moved to </a:t>
            </a:r>
            <a:r>
              <a:rPr b="0" i="0" lang="en" sz="1800" u="none" cap="none" strike="noStrike">
                <a:solidFill>
                  <a:srgbClr val="000000"/>
                </a:solidFill>
                <a:latin typeface="Courier New"/>
                <a:ea typeface="Courier New"/>
                <a:cs typeface="Courier New"/>
                <a:sym typeface="Courier New"/>
              </a:rPr>
              <a:t>%rdi</a:t>
            </a:r>
            <a:r>
              <a:rPr b="0" i="0" lang="en" sz="1800" u="none" cap="none" strike="noStrike">
                <a:solidFill>
                  <a:srgbClr val="000000"/>
                </a:solidFill>
                <a:latin typeface="Palanquin Dark"/>
                <a:ea typeface="Palanquin Dark"/>
                <a:cs typeface="Palanquin Dark"/>
                <a:sym typeface="Palanquin Dark"/>
              </a:rPr>
              <a:t> (the parameter register) before calling </a:t>
            </a:r>
            <a:r>
              <a:rPr b="0" i="0" lang="en" sz="1800" u="none" cap="none" strike="noStrike">
                <a:solidFill>
                  <a:srgbClr val="000000"/>
                </a:solidFill>
                <a:latin typeface="Courier New"/>
                <a:ea typeface="Courier New"/>
                <a:cs typeface="Courier New"/>
                <a:sym typeface="Courier New"/>
              </a:rPr>
              <a:t>puts</a:t>
            </a:r>
            <a:r>
              <a:rPr b="0" i="0" lang="en" sz="1800" u="none" cap="none" strike="noStrike">
                <a:solidFill>
                  <a:schemeClr val="dk1"/>
                </a:solidFill>
                <a:latin typeface="Palanquin Dark"/>
                <a:ea typeface="Palanquin Dark"/>
                <a:cs typeface="Palanquin Dark"/>
                <a:sym typeface="Palanquin Dark"/>
              </a:rPr>
              <a:t> (function used to print), so let's examine the memory at this address as a string!</a:t>
            </a:r>
            <a:endParaRPr b="0" i="0" sz="1800" u="none" cap="none" strike="noStrike">
              <a:solidFill>
                <a:srgbClr val="000000"/>
              </a:solidFill>
              <a:latin typeface="Palanquin Dark"/>
              <a:ea typeface="Palanquin Dark"/>
              <a:cs typeface="Palanquin Dark"/>
              <a:sym typeface="Palanquin Dark"/>
            </a:endParaRPr>
          </a:p>
        </p:txBody>
      </p:sp>
      <p:sp>
        <p:nvSpPr>
          <p:cNvPr id="352" name="Google Shape;352;p38"/>
          <p:cNvSpPr txBox="1"/>
          <p:nvPr/>
        </p:nvSpPr>
        <p:spPr>
          <a:xfrm>
            <a:off x="3178151" y="3072275"/>
            <a:ext cx="2961600" cy="609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rgbClr val="000000"/>
                </a:solidFill>
                <a:latin typeface="Courier New"/>
                <a:ea typeface="Courier New"/>
                <a:cs typeface="Courier New"/>
                <a:sym typeface="Courier New"/>
              </a:rPr>
              <a:t>x/s 0x402c30</a:t>
            </a:r>
            <a:endParaRPr b="0" i="0" sz="3000" u="none" cap="none" strike="noStrike">
              <a:solidFill>
                <a:srgbClr val="000000"/>
              </a:solidFill>
              <a:latin typeface="Courier New"/>
              <a:ea typeface="Courier New"/>
              <a:cs typeface="Courier New"/>
              <a:sym typeface="Courier New"/>
            </a:endParaRPr>
          </a:p>
        </p:txBody>
      </p:sp>
      <p:pic>
        <p:nvPicPr>
          <p:cNvPr id="353" name="Google Shape;353;p38"/>
          <p:cNvPicPr preferRelativeResize="0"/>
          <p:nvPr/>
        </p:nvPicPr>
        <p:blipFill rotWithShape="1">
          <a:blip r:embed="rId3">
            <a:alphaModFix/>
          </a:blip>
          <a:srcRect b="0" l="0" r="0" t="0"/>
          <a:stretch/>
        </p:blipFill>
        <p:spPr>
          <a:xfrm>
            <a:off x="752025" y="3823675"/>
            <a:ext cx="8008676" cy="718575"/>
          </a:xfrm>
          <a:prstGeom prst="rect">
            <a:avLst/>
          </a:prstGeom>
          <a:noFill/>
          <a:ln>
            <a:noFill/>
          </a:ln>
          <a:effectLst>
            <a:outerShdw blurRad="57150" rotWithShape="0" algn="bl" dir="5400000" dist="19050">
              <a:srgbClr val="000000">
                <a:alpha val="49019"/>
              </a:srgbClr>
            </a:outerShdw>
          </a:effectLst>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39"/>
          <p:cNvSpPr txBox="1"/>
          <p:nvPr>
            <p:ph type="ctrTitle"/>
          </p:nvPr>
        </p:nvSpPr>
        <p:spPr>
          <a:xfrm>
            <a:off x="1607550" y="201350"/>
            <a:ext cx="5928900" cy="970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3600"/>
              <a:t>Examine</a:t>
            </a:r>
            <a:endParaRPr sz="3600"/>
          </a:p>
        </p:txBody>
      </p:sp>
      <p:sp>
        <p:nvSpPr>
          <p:cNvPr id="359" name="Google Shape;359;p39"/>
          <p:cNvSpPr txBox="1"/>
          <p:nvPr/>
        </p:nvSpPr>
        <p:spPr>
          <a:xfrm>
            <a:off x="1137250" y="1254550"/>
            <a:ext cx="7043400" cy="10467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00000"/>
              </a:lnSpc>
              <a:spcBef>
                <a:spcPts val="0"/>
              </a:spcBef>
              <a:spcAft>
                <a:spcPts val="0"/>
              </a:spcAft>
              <a:buClr>
                <a:srgbClr val="000000"/>
              </a:buClr>
              <a:buSzPts val="1400"/>
              <a:buFont typeface="Palanquin Dark"/>
              <a:buChar char="●"/>
            </a:pPr>
            <a:r>
              <a:rPr b="0" i="0" lang="en" sz="1400" u="none" cap="none" strike="noStrike">
                <a:solidFill>
                  <a:srgbClr val="000000"/>
                </a:solidFill>
                <a:latin typeface="Palanquin Dark"/>
                <a:ea typeface="Palanquin Dark"/>
                <a:cs typeface="Palanquin Dark"/>
                <a:sym typeface="Palanquin Dark"/>
              </a:rPr>
              <a:t>Note that this is the exact same address, just formatted differently.</a:t>
            </a:r>
            <a:endParaRPr b="0" i="0" sz="1400" u="none" cap="none" strike="noStrike">
              <a:solidFill>
                <a:srgbClr val="000000"/>
              </a:solidFill>
              <a:latin typeface="Palanquin Dark"/>
              <a:ea typeface="Palanquin Dark"/>
              <a:cs typeface="Palanquin Dark"/>
              <a:sym typeface="Palanquin Dark"/>
            </a:endParaRPr>
          </a:p>
          <a:p>
            <a:pPr indent="-317500" lvl="0" marL="457200" marR="0" rtl="0" algn="l">
              <a:lnSpc>
                <a:spcPct val="100000"/>
              </a:lnSpc>
              <a:spcBef>
                <a:spcPts val="0"/>
              </a:spcBef>
              <a:spcAft>
                <a:spcPts val="0"/>
              </a:spcAft>
              <a:buClr>
                <a:srgbClr val="000000"/>
              </a:buClr>
              <a:buSzPts val="1400"/>
              <a:buFont typeface="Palanquin Dark"/>
              <a:buChar char="●"/>
            </a:pPr>
            <a:r>
              <a:rPr b="0" i="0" lang="en" sz="1400" u="none" cap="none" strike="noStrike">
                <a:solidFill>
                  <a:srgbClr val="000000"/>
                </a:solidFill>
                <a:latin typeface="Palanquin Dark"/>
                <a:ea typeface="Palanquin Dark"/>
                <a:cs typeface="Palanquin Dark"/>
                <a:sym typeface="Palanquin Dark"/>
              </a:rPr>
              <a:t>Each byte represents a character. (0x20 is the ASCII character for space and 0x7c is the vertical bar). You could manually figure out the string by looking up the characters in an ASCII table, but GDB does this for you!</a:t>
            </a:r>
            <a:endParaRPr b="0" i="0" sz="1400" u="none" cap="none" strike="noStrike">
              <a:solidFill>
                <a:srgbClr val="000000"/>
              </a:solidFill>
              <a:latin typeface="Palanquin Dark"/>
              <a:ea typeface="Palanquin Dark"/>
              <a:cs typeface="Palanquin Dark"/>
              <a:sym typeface="Palanquin Dark"/>
            </a:endParaRPr>
          </a:p>
        </p:txBody>
      </p:sp>
      <p:pic>
        <p:nvPicPr>
          <p:cNvPr id="360" name="Google Shape;360;p39"/>
          <p:cNvPicPr preferRelativeResize="0"/>
          <p:nvPr/>
        </p:nvPicPr>
        <p:blipFill rotWithShape="1">
          <a:blip r:embed="rId3">
            <a:alphaModFix/>
          </a:blip>
          <a:srcRect b="0" l="0" r="0" t="0"/>
          <a:stretch/>
        </p:blipFill>
        <p:spPr>
          <a:xfrm>
            <a:off x="654600" y="2438612"/>
            <a:ext cx="8008676" cy="718575"/>
          </a:xfrm>
          <a:prstGeom prst="rect">
            <a:avLst/>
          </a:prstGeom>
          <a:noFill/>
          <a:ln>
            <a:noFill/>
          </a:ln>
          <a:effectLst>
            <a:outerShdw blurRad="57150" rotWithShape="0" algn="bl" dir="5400000" dist="19050">
              <a:srgbClr val="000000">
                <a:alpha val="49019"/>
              </a:srgbClr>
            </a:outerShdw>
          </a:effectLst>
        </p:spPr>
      </p:pic>
      <p:pic>
        <p:nvPicPr>
          <p:cNvPr id="361" name="Google Shape;361;p39"/>
          <p:cNvPicPr preferRelativeResize="0"/>
          <p:nvPr/>
        </p:nvPicPr>
        <p:blipFill rotWithShape="1">
          <a:blip r:embed="rId4">
            <a:alphaModFix/>
          </a:blip>
          <a:srcRect b="0" l="0" r="0" t="0"/>
          <a:stretch/>
        </p:blipFill>
        <p:spPr>
          <a:xfrm>
            <a:off x="688275" y="3328500"/>
            <a:ext cx="7767426" cy="874200"/>
          </a:xfrm>
          <a:prstGeom prst="rect">
            <a:avLst/>
          </a:prstGeom>
          <a:noFill/>
          <a:ln>
            <a:noFill/>
          </a:ln>
          <a:effectLst>
            <a:outerShdw blurRad="57150" rotWithShape="0" algn="bl" dir="5400000" dist="19050">
              <a:srgbClr val="000000">
                <a:alpha val="49019"/>
              </a:srgbClr>
            </a:outerShdw>
          </a:effectLst>
        </p:spPr>
      </p:pic>
      <p:sp>
        <p:nvSpPr>
          <p:cNvPr id="362" name="Google Shape;362;p39"/>
          <p:cNvSpPr/>
          <p:nvPr/>
        </p:nvSpPr>
        <p:spPr>
          <a:xfrm>
            <a:off x="1979150" y="2918625"/>
            <a:ext cx="540900" cy="2877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39"/>
          <p:cNvSpPr/>
          <p:nvPr/>
        </p:nvSpPr>
        <p:spPr>
          <a:xfrm>
            <a:off x="2327175" y="3586000"/>
            <a:ext cx="2908500" cy="2331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40"/>
          <p:cNvSpPr txBox="1"/>
          <p:nvPr>
            <p:ph type="ctrTitle"/>
          </p:nvPr>
        </p:nvSpPr>
        <p:spPr>
          <a:xfrm>
            <a:off x="1607550" y="162550"/>
            <a:ext cx="5928900" cy="970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3600"/>
              <a:t>And more...</a:t>
            </a:r>
            <a:endParaRPr sz="3600"/>
          </a:p>
        </p:txBody>
      </p:sp>
      <p:sp>
        <p:nvSpPr>
          <p:cNvPr id="369" name="Google Shape;369;p40"/>
          <p:cNvSpPr txBox="1"/>
          <p:nvPr/>
        </p:nvSpPr>
        <p:spPr>
          <a:xfrm>
            <a:off x="387700" y="511475"/>
            <a:ext cx="672000" cy="478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alanquin Dark"/>
              <a:ea typeface="Palanquin Dark"/>
              <a:cs typeface="Palanquin Dark"/>
              <a:sym typeface="Palanquin Dark"/>
            </a:endParaRPr>
          </a:p>
        </p:txBody>
      </p:sp>
      <p:sp>
        <p:nvSpPr>
          <p:cNvPr id="370" name="Google Shape;370;p40"/>
          <p:cNvSpPr txBox="1"/>
          <p:nvPr/>
        </p:nvSpPr>
        <p:spPr>
          <a:xfrm>
            <a:off x="633225" y="1042600"/>
            <a:ext cx="7767000" cy="258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Palanquin Dark"/>
                <a:ea typeface="Palanquin Dark"/>
                <a:cs typeface="Palanquin Dark"/>
                <a:sym typeface="Palanquin Dark"/>
              </a:rPr>
              <a:t>You might find other gdb commands useful too, and we encourage you to explore. Here are even more commands:</a:t>
            </a:r>
            <a:endParaRPr b="0" i="0" sz="1400" u="none" cap="none" strike="noStrike">
              <a:solidFill>
                <a:schemeClr val="dk1"/>
              </a:solidFill>
              <a:latin typeface="Palanquin Dark"/>
              <a:ea typeface="Palanquin Dark"/>
              <a:cs typeface="Palanquin Dark"/>
              <a:sym typeface="Palanquin Dark"/>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Palanquin Dark"/>
              <a:ea typeface="Palanquin Dark"/>
              <a:cs typeface="Palanquin Dark"/>
              <a:sym typeface="Palanquin Dark"/>
            </a:endParaRPr>
          </a:p>
          <a:p>
            <a:pPr indent="-298450" lvl="0" marL="457200" marR="0" rtl="0" algn="l">
              <a:lnSpc>
                <a:spcPct val="100000"/>
              </a:lnSpc>
              <a:spcBef>
                <a:spcPts val="0"/>
              </a:spcBef>
              <a:spcAft>
                <a:spcPts val="0"/>
              </a:spcAft>
              <a:buClr>
                <a:schemeClr val="dk1"/>
              </a:buClr>
              <a:buSzPts val="1100"/>
              <a:buFont typeface="Palanquin Dark"/>
              <a:buChar char="●"/>
            </a:pPr>
            <a:r>
              <a:rPr b="0" i="0" lang="en" sz="1100" u="none" cap="none" strike="noStrike">
                <a:solidFill>
                  <a:schemeClr val="dk1"/>
                </a:solidFill>
                <a:latin typeface="Palanquin Dark"/>
                <a:ea typeface="Palanquin Dark"/>
                <a:cs typeface="Palanquin Dark"/>
                <a:sym typeface="Palanquin Dark"/>
              </a:rPr>
              <a:t>disassemble</a:t>
            </a:r>
            <a:endParaRPr b="0" i="0" sz="1100" u="none" cap="none" strike="noStrike">
              <a:solidFill>
                <a:schemeClr val="dk1"/>
              </a:solidFill>
              <a:latin typeface="Palanquin Dark"/>
              <a:ea typeface="Palanquin Dark"/>
              <a:cs typeface="Palanquin Dark"/>
              <a:sym typeface="Palanquin Dark"/>
            </a:endParaRPr>
          </a:p>
          <a:p>
            <a:pPr indent="-298450" lvl="1" marL="914400" marR="0" rtl="0" algn="l">
              <a:lnSpc>
                <a:spcPct val="100000"/>
              </a:lnSpc>
              <a:spcBef>
                <a:spcPts val="0"/>
              </a:spcBef>
              <a:spcAft>
                <a:spcPts val="0"/>
              </a:spcAft>
              <a:buClr>
                <a:schemeClr val="dk1"/>
              </a:buClr>
              <a:buSzPts val="1100"/>
              <a:buFont typeface="Palanquin Dark"/>
              <a:buChar char="○"/>
            </a:pPr>
            <a:r>
              <a:rPr b="0" i="0" lang="en" sz="1100" u="none" cap="none" strike="noStrike">
                <a:solidFill>
                  <a:schemeClr val="dk1"/>
                </a:solidFill>
                <a:latin typeface="Palanquin Dark"/>
                <a:ea typeface="Palanquin Dark"/>
                <a:cs typeface="Palanquin Dark"/>
                <a:sym typeface="Palanquin Dark"/>
              </a:rPr>
              <a:t>Show a disassembled function</a:t>
            </a:r>
            <a:endParaRPr b="0" i="0" sz="1100" u="none" cap="none" strike="noStrike">
              <a:solidFill>
                <a:schemeClr val="dk1"/>
              </a:solidFill>
              <a:latin typeface="Palanquin Dark"/>
              <a:ea typeface="Palanquin Dark"/>
              <a:cs typeface="Palanquin Dark"/>
              <a:sym typeface="Palanquin Dark"/>
            </a:endParaRPr>
          </a:p>
          <a:p>
            <a:pPr indent="-298450" lvl="1" marL="914400" marR="0" rtl="0" algn="l">
              <a:lnSpc>
                <a:spcPct val="100000"/>
              </a:lnSpc>
              <a:spcBef>
                <a:spcPts val="0"/>
              </a:spcBef>
              <a:spcAft>
                <a:spcPts val="0"/>
              </a:spcAft>
              <a:buClr>
                <a:schemeClr val="dk1"/>
              </a:buClr>
              <a:buSzPts val="1100"/>
              <a:buFont typeface="Palanquin Dark"/>
              <a:buChar char="○"/>
            </a:pPr>
            <a:r>
              <a:rPr b="0" i="0" lang="en" sz="1100" u="sng" cap="none" strike="noStrike">
                <a:solidFill>
                  <a:schemeClr val="hlink"/>
                </a:solidFill>
                <a:latin typeface="Palanquin Dark"/>
                <a:ea typeface="Palanquin Dark"/>
                <a:cs typeface="Palanquin Dark"/>
                <a:sym typeface="Palanquin Dark"/>
                <a:hlinkClick r:id="rId3"/>
              </a:rPr>
              <a:t>https://ftp.gnu.org/old-gnu/Manuals/gdb/html_node/gdb_49.html</a:t>
            </a:r>
            <a:endParaRPr b="0" i="0" sz="1100" u="none" cap="none" strike="noStrike">
              <a:solidFill>
                <a:schemeClr val="dk1"/>
              </a:solidFill>
              <a:latin typeface="Palanquin Dark"/>
              <a:ea typeface="Palanquin Dark"/>
              <a:cs typeface="Palanquin Dark"/>
              <a:sym typeface="Palanquin Dark"/>
            </a:endParaRPr>
          </a:p>
          <a:p>
            <a:pPr indent="-298450" lvl="0" marL="457200" marR="0" rtl="0" algn="l">
              <a:lnSpc>
                <a:spcPct val="100000"/>
              </a:lnSpc>
              <a:spcBef>
                <a:spcPts val="0"/>
              </a:spcBef>
              <a:spcAft>
                <a:spcPts val="0"/>
              </a:spcAft>
              <a:buClr>
                <a:schemeClr val="dk1"/>
              </a:buClr>
              <a:buSzPts val="1100"/>
              <a:buFont typeface="Palanquin Dark"/>
              <a:buChar char="●"/>
            </a:pPr>
            <a:r>
              <a:rPr b="0" i="0" lang="en" sz="1100" u="none" cap="none" strike="noStrike">
                <a:solidFill>
                  <a:schemeClr val="dk1"/>
                </a:solidFill>
                <a:latin typeface="Palanquin Dark"/>
                <a:ea typeface="Palanquin Dark"/>
                <a:cs typeface="Palanquin Dark"/>
                <a:sym typeface="Palanquin Dark"/>
              </a:rPr>
              <a:t>display</a:t>
            </a:r>
            <a:endParaRPr b="0" i="0" sz="1100" u="none" cap="none" strike="noStrike">
              <a:solidFill>
                <a:schemeClr val="dk1"/>
              </a:solidFill>
              <a:latin typeface="Palanquin Dark"/>
              <a:ea typeface="Palanquin Dark"/>
              <a:cs typeface="Palanquin Dark"/>
              <a:sym typeface="Palanquin Dark"/>
            </a:endParaRPr>
          </a:p>
          <a:p>
            <a:pPr indent="-298450" lvl="1" marL="914400" marR="0" rtl="0" algn="l">
              <a:lnSpc>
                <a:spcPct val="100000"/>
              </a:lnSpc>
              <a:spcBef>
                <a:spcPts val="0"/>
              </a:spcBef>
              <a:spcAft>
                <a:spcPts val="0"/>
              </a:spcAft>
              <a:buClr>
                <a:schemeClr val="dk1"/>
              </a:buClr>
              <a:buSzPts val="1100"/>
              <a:buFont typeface="Palanquin Dark"/>
              <a:buChar char="○"/>
            </a:pPr>
            <a:r>
              <a:rPr b="0" i="0" lang="en" sz="1100" u="none" cap="none" strike="noStrike">
                <a:solidFill>
                  <a:schemeClr val="dk1"/>
                </a:solidFill>
                <a:latin typeface="Palanquin Dark"/>
                <a:ea typeface="Palanquin Dark"/>
                <a:cs typeface="Palanquin Dark"/>
                <a:sym typeface="Palanquin Dark"/>
              </a:rPr>
              <a:t>Useful defaults for p and x, more display options</a:t>
            </a:r>
            <a:endParaRPr b="0" i="0" sz="1100" u="none" cap="none" strike="noStrike">
              <a:solidFill>
                <a:schemeClr val="dk1"/>
              </a:solidFill>
              <a:latin typeface="Palanquin Dark"/>
              <a:ea typeface="Palanquin Dark"/>
              <a:cs typeface="Palanquin Dark"/>
              <a:sym typeface="Palanquin Dark"/>
            </a:endParaRPr>
          </a:p>
          <a:p>
            <a:pPr indent="-298450" lvl="1" marL="914400" marR="0" rtl="0" algn="l">
              <a:lnSpc>
                <a:spcPct val="100000"/>
              </a:lnSpc>
              <a:spcBef>
                <a:spcPts val="0"/>
              </a:spcBef>
              <a:spcAft>
                <a:spcPts val="0"/>
              </a:spcAft>
              <a:buClr>
                <a:schemeClr val="dk1"/>
              </a:buClr>
              <a:buSzPts val="1100"/>
              <a:buFont typeface="Palanquin Dark"/>
              <a:buChar char="○"/>
            </a:pPr>
            <a:r>
              <a:rPr b="0" i="0" lang="en" sz="1100" u="sng" cap="none" strike="noStrike">
                <a:solidFill>
                  <a:schemeClr val="hlink"/>
                </a:solidFill>
                <a:latin typeface="Palanquin Dark"/>
                <a:ea typeface="Palanquin Dark"/>
                <a:cs typeface="Palanquin Dark"/>
                <a:sym typeface="Palanquin Dark"/>
                <a:hlinkClick r:id="rId4"/>
              </a:rPr>
              <a:t>https://ftp.gnu.org/old-gnu/Manuals/gdb/html_node/gdb_56.html</a:t>
            </a:r>
            <a:endParaRPr b="0" i="0" sz="1100" u="none" cap="none" strike="noStrike">
              <a:solidFill>
                <a:schemeClr val="dk1"/>
              </a:solidFill>
              <a:latin typeface="Palanquin Dark"/>
              <a:ea typeface="Palanquin Dark"/>
              <a:cs typeface="Palanquin Dark"/>
              <a:sym typeface="Palanquin Dark"/>
            </a:endParaRPr>
          </a:p>
          <a:p>
            <a:pPr indent="-298450" lvl="0" marL="457200" marR="0" rtl="0" algn="l">
              <a:lnSpc>
                <a:spcPct val="100000"/>
              </a:lnSpc>
              <a:spcBef>
                <a:spcPts val="0"/>
              </a:spcBef>
              <a:spcAft>
                <a:spcPts val="0"/>
              </a:spcAft>
              <a:buClr>
                <a:schemeClr val="dk1"/>
              </a:buClr>
              <a:buSzPts val="1100"/>
              <a:buFont typeface="Palanquin Dark"/>
              <a:buChar char="●"/>
            </a:pPr>
            <a:r>
              <a:rPr b="0" i="0" lang="en" sz="1100" u="none" cap="none" strike="noStrike">
                <a:solidFill>
                  <a:schemeClr val="dk1"/>
                </a:solidFill>
                <a:latin typeface="Palanquin Dark"/>
                <a:ea typeface="Palanquin Dark"/>
                <a:cs typeface="Palanquin Dark"/>
                <a:sym typeface="Palanquin Dark"/>
              </a:rPr>
              <a:t>backtrace</a:t>
            </a:r>
            <a:endParaRPr b="0" i="0" sz="1100" u="none" cap="none" strike="noStrike">
              <a:solidFill>
                <a:schemeClr val="dk1"/>
              </a:solidFill>
              <a:latin typeface="Palanquin Dark"/>
              <a:ea typeface="Palanquin Dark"/>
              <a:cs typeface="Palanquin Dark"/>
              <a:sym typeface="Palanquin Dark"/>
            </a:endParaRPr>
          </a:p>
          <a:p>
            <a:pPr indent="-298450" lvl="1" marL="914400" marR="0" rtl="0" algn="l">
              <a:lnSpc>
                <a:spcPct val="100000"/>
              </a:lnSpc>
              <a:spcBef>
                <a:spcPts val="0"/>
              </a:spcBef>
              <a:spcAft>
                <a:spcPts val="0"/>
              </a:spcAft>
              <a:buClr>
                <a:schemeClr val="dk1"/>
              </a:buClr>
              <a:buSzPts val="1100"/>
              <a:buFont typeface="Palanquin Dark"/>
              <a:buChar char="○"/>
            </a:pPr>
            <a:r>
              <a:rPr b="0" i="0" lang="en" sz="1100" u="none" cap="none" strike="noStrike">
                <a:solidFill>
                  <a:schemeClr val="dk1"/>
                </a:solidFill>
                <a:latin typeface="Palanquin Dark"/>
                <a:ea typeface="Palanquin Dark"/>
                <a:cs typeface="Palanquin Dark"/>
                <a:sym typeface="Palanquin Dark"/>
              </a:rPr>
              <a:t>View which functions you're in</a:t>
            </a:r>
            <a:endParaRPr b="0" i="0" sz="1100" u="none" cap="none" strike="noStrike">
              <a:solidFill>
                <a:schemeClr val="dk1"/>
              </a:solidFill>
              <a:latin typeface="Palanquin Dark"/>
              <a:ea typeface="Palanquin Dark"/>
              <a:cs typeface="Palanquin Dark"/>
              <a:sym typeface="Palanquin Dark"/>
            </a:endParaRPr>
          </a:p>
          <a:p>
            <a:pPr indent="-298450" lvl="1" marL="914400" marR="0" rtl="0" algn="l">
              <a:lnSpc>
                <a:spcPct val="100000"/>
              </a:lnSpc>
              <a:spcBef>
                <a:spcPts val="0"/>
              </a:spcBef>
              <a:spcAft>
                <a:spcPts val="0"/>
              </a:spcAft>
              <a:buClr>
                <a:schemeClr val="dk1"/>
              </a:buClr>
              <a:buSzPts val="1100"/>
              <a:buFont typeface="Palanquin Dark"/>
              <a:buChar char="○"/>
            </a:pPr>
            <a:r>
              <a:rPr b="0" i="0" lang="en" sz="1100" u="sng" cap="none" strike="noStrike">
                <a:solidFill>
                  <a:schemeClr val="hlink"/>
                </a:solidFill>
                <a:latin typeface="Palanquin Dark"/>
                <a:ea typeface="Palanquin Dark"/>
                <a:cs typeface="Palanquin Dark"/>
                <a:sym typeface="Palanquin Dark"/>
                <a:hlinkClick r:id="rId5"/>
              </a:rPr>
              <a:t>https://ftp.gnu.org/old-gnu/Manuals/gdb/html_node/gdb_42.html</a:t>
            </a:r>
            <a:endParaRPr b="0" i="0" sz="1100" u="none" cap="none" strike="noStrike">
              <a:solidFill>
                <a:schemeClr val="dk1"/>
              </a:solidFill>
              <a:latin typeface="Palanquin Dark"/>
              <a:ea typeface="Palanquin Dark"/>
              <a:cs typeface="Palanquin Dark"/>
              <a:sym typeface="Palanquin Dark"/>
            </a:endParaRPr>
          </a:p>
          <a:p>
            <a:pPr indent="-298450" lvl="0" marL="457200" marR="0" rtl="0" algn="l">
              <a:lnSpc>
                <a:spcPct val="100000"/>
              </a:lnSpc>
              <a:spcBef>
                <a:spcPts val="0"/>
              </a:spcBef>
              <a:spcAft>
                <a:spcPts val="0"/>
              </a:spcAft>
              <a:buClr>
                <a:schemeClr val="dk1"/>
              </a:buClr>
              <a:buSzPts val="1100"/>
              <a:buFont typeface="Palanquin Dark"/>
              <a:buChar char="●"/>
            </a:pPr>
            <a:r>
              <a:rPr b="0" i="0" lang="en" sz="1100" u="none" cap="none" strike="noStrike">
                <a:solidFill>
                  <a:schemeClr val="dk1"/>
                </a:solidFill>
                <a:latin typeface="Palanquin Dark"/>
                <a:ea typeface="Palanquin Dark"/>
                <a:cs typeface="Palanquin Dark"/>
                <a:sym typeface="Palanquin Dark"/>
              </a:rPr>
              <a:t>info registers</a:t>
            </a:r>
            <a:endParaRPr b="0" i="0" sz="1100" u="none" cap="none" strike="noStrike">
              <a:solidFill>
                <a:schemeClr val="dk1"/>
              </a:solidFill>
              <a:latin typeface="Palanquin Dark"/>
              <a:ea typeface="Palanquin Dark"/>
              <a:cs typeface="Palanquin Dark"/>
              <a:sym typeface="Palanquin Dark"/>
            </a:endParaRPr>
          </a:p>
          <a:p>
            <a:pPr indent="-298450" lvl="1" marL="914400" marR="0" rtl="0" algn="l">
              <a:lnSpc>
                <a:spcPct val="100000"/>
              </a:lnSpc>
              <a:spcBef>
                <a:spcPts val="0"/>
              </a:spcBef>
              <a:spcAft>
                <a:spcPts val="0"/>
              </a:spcAft>
              <a:buClr>
                <a:schemeClr val="dk1"/>
              </a:buClr>
              <a:buSzPts val="1100"/>
              <a:buFont typeface="Palanquin Dark"/>
              <a:buChar char="○"/>
            </a:pPr>
            <a:r>
              <a:rPr b="0" i="0" lang="en" sz="1100" u="none" cap="none" strike="noStrike">
                <a:solidFill>
                  <a:schemeClr val="dk1"/>
                </a:solidFill>
                <a:latin typeface="Palanquin Dark"/>
                <a:ea typeface="Palanquin Dark"/>
                <a:cs typeface="Palanquin Dark"/>
                <a:sym typeface="Palanquin Dark"/>
              </a:rPr>
              <a:t>Print values of all registers</a:t>
            </a:r>
            <a:endParaRPr b="0" i="0" sz="1100" u="none" cap="none" strike="noStrike">
              <a:solidFill>
                <a:schemeClr val="dk1"/>
              </a:solidFill>
              <a:latin typeface="Palanquin Dark"/>
              <a:ea typeface="Palanquin Dark"/>
              <a:cs typeface="Palanquin Dark"/>
              <a:sym typeface="Palanquin Dark"/>
            </a:endParaRPr>
          </a:p>
          <a:p>
            <a:pPr indent="-298450" lvl="1" marL="914400" marR="0" rtl="0" algn="l">
              <a:lnSpc>
                <a:spcPct val="100000"/>
              </a:lnSpc>
              <a:spcBef>
                <a:spcPts val="0"/>
              </a:spcBef>
              <a:spcAft>
                <a:spcPts val="0"/>
              </a:spcAft>
              <a:buClr>
                <a:schemeClr val="dk1"/>
              </a:buClr>
              <a:buSzPts val="1100"/>
              <a:buFont typeface="Palanquin Dark"/>
              <a:buChar char="○"/>
            </a:pPr>
            <a:r>
              <a:rPr b="0" i="0" lang="en" sz="1100" u="sng" cap="none" strike="noStrike">
                <a:solidFill>
                  <a:schemeClr val="hlink"/>
                </a:solidFill>
                <a:latin typeface="Palanquin Dark"/>
                <a:ea typeface="Palanquin Dark"/>
                <a:cs typeface="Palanquin Dark"/>
                <a:sym typeface="Palanquin Dark"/>
                <a:hlinkClick r:id="rId6"/>
              </a:rPr>
              <a:t>https://stackoverflow.com/questions/5429137/how-to-print-register-values-in-gdb</a:t>
            </a:r>
            <a:endParaRPr b="0" i="0" sz="1100" u="none" cap="none" strike="noStrike">
              <a:solidFill>
                <a:schemeClr val="dk1"/>
              </a:solidFill>
              <a:latin typeface="Palanquin Dark"/>
              <a:ea typeface="Palanquin Dark"/>
              <a:cs typeface="Palanquin Dark"/>
              <a:sym typeface="Palanquin Dark"/>
            </a:endParaRPr>
          </a:p>
        </p:txBody>
      </p:sp>
      <p:sp>
        <p:nvSpPr>
          <p:cNvPr id="371" name="Google Shape;371;p40"/>
          <p:cNvSpPr txBox="1"/>
          <p:nvPr/>
        </p:nvSpPr>
        <p:spPr>
          <a:xfrm>
            <a:off x="633225" y="4026625"/>
            <a:ext cx="5156400" cy="75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alanquin Dark"/>
                <a:ea typeface="Palanquin Dark"/>
                <a:cs typeface="Palanquin Dark"/>
                <a:sym typeface="Palanquin Dark"/>
              </a:rPr>
              <a:t>GDB cheat sheet: </a:t>
            </a:r>
            <a:r>
              <a:rPr b="0" i="0" lang="en" sz="1400" u="sng" cap="none" strike="noStrike">
                <a:solidFill>
                  <a:schemeClr val="hlink"/>
                </a:solidFill>
                <a:latin typeface="Palanquin Dark"/>
                <a:ea typeface="Palanquin Dark"/>
                <a:cs typeface="Palanquin Dark"/>
                <a:sym typeface="Palanquin Dark"/>
                <a:hlinkClick r:id="rId7"/>
              </a:rPr>
              <a:t>http://csapp.cs.cmu.edu/2e/docs/gdbnotes-x86-64.pdf</a:t>
            </a:r>
            <a:r>
              <a:rPr b="0" i="0" lang="en" sz="1400" u="none" cap="none" strike="noStrike">
                <a:solidFill>
                  <a:srgbClr val="000000"/>
                </a:solidFill>
                <a:latin typeface="Palanquin Dark"/>
                <a:ea typeface="Palanquin Dark"/>
                <a:cs typeface="Palanquin Dark"/>
                <a:sym typeface="Palanquin Dark"/>
              </a:rPr>
              <a:t> </a:t>
            </a:r>
            <a:endParaRPr b="0" i="0" sz="1400" u="none" cap="none" strike="noStrike">
              <a:solidFill>
                <a:srgbClr val="000000"/>
              </a:solidFill>
              <a:latin typeface="Palanquin Dark"/>
              <a:ea typeface="Palanquin Dark"/>
              <a:cs typeface="Palanquin Dark"/>
              <a:sym typeface="Palanquin Dark"/>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1"/>
          <p:cNvSpPr txBox="1"/>
          <p:nvPr>
            <p:ph type="ctrTitle"/>
          </p:nvPr>
        </p:nvSpPr>
        <p:spPr>
          <a:xfrm>
            <a:off x="705641" y="872918"/>
            <a:ext cx="7524900" cy="3813300"/>
          </a:xfrm>
          <a:prstGeom prst="rect">
            <a:avLst/>
          </a:prstGeom>
          <a:noFill/>
          <a:ln>
            <a:noFill/>
          </a:ln>
        </p:spPr>
        <p:txBody>
          <a:bodyPr anchorCtr="0" anchor="b" bIns="91425" lIns="91425" spcFirstLastPara="1" rIns="91425" wrap="square" tIns="91425">
            <a:noAutofit/>
          </a:bodyPr>
          <a:lstStyle/>
          <a:p>
            <a:pPr indent="0" lvl="0" marL="457200" rtl="0" algn="ctr">
              <a:lnSpc>
                <a:spcPct val="100000"/>
              </a:lnSpc>
              <a:spcBef>
                <a:spcPts val="0"/>
              </a:spcBef>
              <a:spcAft>
                <a:spcPts val="0"/>
              </a:spcAft>
              <a:buSzPts val="5200"/>
              <a:buNone/>
            </a:pPr>
            <a:r>
              <a:rPr lang="en" sz="2400"/>
              <a:t>Slides:</a:t>
            </a:r>
            <a:endParaRPr sz="2400"/>
          </a:p>
          <a:p>
            <a:pPr indent="0" lvl="0" marL="457200" rtl="0" algn="ctr">
              <a:lnSpc>
                <a:spcPct val="100000"/>
              </a:lnSpc>
              <a:spcBef>
                <a:spcPts val="0"/>
              </a:spcBef>
              <a:spcAft>
                <a:spcPts val="0"/>
              </a:spcAft>
              <a:buSzPts val="5200"/>
              <a:buNone/>
            </a:pPr>
            <a:r>
              <a:rPr lang="en" sz="2400" u="sng">
                <a:solidFill>
                  <a:schemeClr val="hlink"/>
                </a:solidFill>
                <a:hlinkClick r:id="rId3"/>
              </a:rPr>
              <a:t>https://docs.google.com/presentation/d/1mUR75UbBu6btTzC04bI8zY0FE9almjGUcFVZq3fwOLw</a:t>
            </a:r>
            <a:endParaRPr sz="2400"/>
          </a:p>
          <a:p>
            <a:pPr indent="0" lvl="0" marL="457200" rtl="0" algn="ctr">
              <a:lnSpc>
                <a:spcPct val="100000"/>
              </a:lnSpc>
              <a:spcBef>
                <a:spcPts val="0"/>
              </a:spcBef>
              <a:spcAft>
                <a:spcPts val="0"/>
              </a:spcAft>
              <a:buSzPts val="5200"/>
              <a:buNone/>
            </a:pPr>
            <a:r>
              <a:t/>
            </a:r>
            <a:endParaRPr sz="2400"/>
          </a:p>
          <a:p>
            <a:pPr indent="0" lvl="0" marL="457200" rtl="0" algn="ctr">
              <a:lnSpc>
                <a:spcPct val="100000"/>
              </a:lnSpc>
              <a:spcBef>
                <a:spcPts val="0"/>
              </a:spcBef>
              <a:spcAft>
                <a:spcPts val="0"/>
              </a:spcAft>
              <a:buSzPts val="5200"/>
              <a:buNone/>
            </a:pPr>
            <a:r>
              <a:t/>
            </a:r>
            <a:endParaRPr sz="2400"/>
          </a:p>
          <a:p>
            <a:pPr indent="0" lvl="0" marL="457200" rtl="0" algn="ctr">
              <a:lnSpc>
                <a:spcPct val="100000"/>
              </a:lnSpc>
              <a:spcBef>
                <a:spcPts val="0"/>
              </a:spcBef>
              <a:spcAft>
                <a:spcPts val="0"/>
              </a:spcAft>
              <a:buSzPts val="5200"/>
              <a:buNone/>
            </a:pPr>
            <a:r>
              <a:t/>
            </a:r>
            <a:endParaRPr sz="2400"/>
          </a:p>
          <a:p>
            <a:pPr indent="0" lvl="0" marL="457200" rtl="0" algn="ctr">
              <a:lnSpc>
                <a:spcPct val="100000"/>
              </a:lnSpc>
              <a:spcBef>
                <a:spcPts val="0"/>
              </a:spcBef>
              <a:spcAft>
                <a:spcPts val="0"/>
              </a:spcAft>
              <a:buSzPts val="5200"/>
              <a:buNone/>
            </a:pPr>
            <a:r>
              <a:t/>
            </a:r>
            <a:endParaRPr sz="24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